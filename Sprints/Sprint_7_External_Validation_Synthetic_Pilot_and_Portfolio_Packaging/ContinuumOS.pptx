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1695" cy="6858000"/>
  <p:notesSz cx="6858000" cy="12191695"/>
  <p:embeddedFontLst>
    <p:embeddedFont>
      <p:font typeface="Sora Thin"/>
      <p:regular r:id="rId201314"/>
    </p:embeddedFont>
    <p:embeddedFont>
      <p:font typeface="Sora ExtraLight"/>
      <p:regular r:id="rId201315"/>
    </p:embeddedFont>
    <p:embeddedFont>
      <p:font typeface="Sora Medium"/>
      <p:regular r:id="rId201316"/>
    </p:embeddedFont>
    <p:embeddedFont>
      <p:font typeface="Sora Light"/>
      <p:regular r:id="rId201317"/>
    </p:embeddedFont>
    <p:embeddedFont>
      <p:font typeface="Sora"/>
      <p:regular r:id="rId201318"/>
    </p:embeddedFont>
    <p:embeddedFont>
      <p:font typeface="Sora SemiBold"/>
      <p:regular r:id="rId201319"/>
    </p:embeddedFont>
    <p:embeddedFont>
      <p:font typeface="Sora Bold"/>
      <p:regular r:id="rId201320"/>
    </p:embeddedFont>
    <p:embeddedFont>
      <p:font typeface="Sora ExtraBold"/>
      <p:regular r:id="rId201321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Relationship Id="rId201318" Target="fonts/201318.fntdata" Type="http://schemas.openxmlformats.org/officeDocument/2006/relationships/font"/><Relationship Id="rId201319" Target="fonts/201319.fntdata" Type="http://schemas.openxmlformats.org/officeDocument/2006/relationships/font"/><Relationship Id="rId201320" Target="fonts/201320.fntdata" Type="http://schemas.openxmlformats.org/officeDocument/2006/relationships/font"/><Relationship Id="rId201321" Target="fonts/201321.fntdata" Type="http://schemas.openxmlformats.org/officeDocument/2006/relationships/font"/><Relationship Id="rId201322" Target="fonts/201322.fntdata" Type="http://schemas.openxmlformats.org/officeDocument/2006/relationships/font"/><Relationship Id="rId201323" Target="fonts/201323.fntdata" Type="http://schemas.openxmlformats.org/officeDocument/2006/relationships/font"/><Relationship Id="rId201324" Target="fonts/201324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2-1.jpeg"/><Relationship Id="rId2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image" Target="../media/image-2-2.png"/><Relationship Id="rId3" Type="http://schemas.openxmlformats.org/officeDocument/2006/relationships/image" Target="../media/image-2-3.svg"/><Relationship Id="rId4" Type="http://schemas.openxmlformats.org/officeDocument/2006/relationships/image" Target="../media/image-2-2.png"/><Relationship Id="rId5" Type="http://schemas.openxmlformats.org/officeDocument/2006/relationships/image" Target="../media/image-2-3.svg"/><Relationship Id="rId6" Type="http://schemas.openxmlformats.org/officeDocument/2006/relationships/image" Target="../media/image-2-2.png"/><Relationship Id="rId7" Type="http://schemas.openxmlformats.org/officeDocument/2006/relationships/image" Target="../media/image-2-3.svg"/><Relationship Id="rId8" Type="http://schemas.openxmlformats.org/officeDocument/2006/relationships/slideLayout" Target="../slideLayouts/slideLayout2.xml"/><Relationship Id="rId9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image" Target="../media/image-4-8.png"/><Relationship Id="rId9" Type="http://schemas.openxmlformats.org/officeDocument/2006/relationships/slideLayout" Target="../slideLayouts/slideLayout2.xml"/><Relationship Id="rId10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image" Target="../media/image-6-2.png"/><Relationship Id="rId3" Type="http://schemas.openxmlformats.org/officeDocument/2006/relationships/image" Target="../media/image-6-3.svg"/><Relationship Id="rId4" Type="http://schemas.openxmlformats.org/officeDocument/2006/relationships/image" Target="../media/image-6-4.png"/><Relationship Id="rId5" Type="http://schemas.openxmlformats.org/officeDocument/2006/relationships/image" Target="../media/image-6-5.sv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image" Target="../media/image-7-2.png"/><Relationship Id="rId3" Type="http://schemas.openxmlformats.org/officeDocument/2006/relationships/image" Target="../media/image-7-3.svg"/><Relationship Id="rId4" Type="http://schemas.openxmlformats.org/officeDocument/2006/relationships/image" Target="../media/image-7-2.png"/><Relationship Id="rId5" Type="http://schemas.openxmlformats.org/officeDocument/2006/relationships/image" Target="../media/image-7-3.sv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e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svg"/><Relationship Id="rId3" Type="http://schemas.openxmlformats.org/officeDocument/2006/relationships/image" Target="../media/image-9-3.png"/><Relationship Id="rId4" Type="http://schemas.openxmlformats.org/officeDocument/2006/relationships/image" Target="../media/image-9-4.svg"/><Relationship Id="rId5" Type="http://schemas.openxmlformats.org/officeDocument/2006/relationships/image" Target="../media/image-9-5.png"/><Relationship Id="rId6" Type="http://schemas.openxmlformats.org/officeDocument/2006/relationships/image" Target="../media/image-9-6.svg"/><Relationship Id="rId7" Type="http://schemas.openxmlformats.org/officeDocument/2006/relationships/image" Target="../media/image-9-7.png"/><Relationship Id="rId8" Type="http://schemas.openxmlformats.org/officeDocument/2006/relationships/image" Target="../media/image-9-8.svg"/><Relationship Id="rId9" Type="http://schemas.openxmlformats.org/officeDocument/2006/relationships/image" Target="../media/image-9-9.png"/><Relationship Id="rId10" Type="http://schemas.openxmlformats.org/officeDocument/2006/relationships/image" Target="../media/image-9-10.svg"/><Relationship Id="rId11" Type="http://schemas.openxmlformats.org/officeDocument/2006/relationships/image" Target="../media/image-9-11.png"/><Relationship Id="rId12" Type="http://schemas.openxmlformats.org/officeDocument/2006/relationships/image" Target="../media/image-9-12.svg"/><Relationship Id="rId13" Type="http://schemas.openxmlformats.org/officeDocument/2006/relationships/image" Target="../media/image-9-13.png"/><Relationship Id="rId14" Type="http://schemas.openxmlformats.org/officeDocument/2006/relationships/image" Target="../media/image-9-14.svg"/><Relationship Id="rId15" Type="http://schemas.openxmlformats.org/officeDocument/2006/relationships/slideLayout" Target="../slideLayouts/slideLayout2.xml"/><Relationship Id="rId1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3771" y="0"/>
            <a:ext cx="3047924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31908" y="463748"/>
            <a:ext cx="1674076" cy="224334"/>
          </a:xfrm>
          <a:prstGeom prst="roundRect">
            <a:avLst>
              <a:gd name="adj" fmla="val 22127"/>
            </a:avLst>
          </a:prstGeom>
          <a:noFill/>
          <a:ln w="6350">
            <a:solidFill>
              <a:srgbClr val="DA1B2E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720509" y="508000"/>
            <a:ext cx="2106461" cy="1358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900" dirty="0">
                <a:solidFill>
                  <a:srgbClr val="DA1B2E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PORTFOLIO CASE STUDY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631908" y="743248"/>
            <a:ext cx="7879954" cy="9719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6100" dirty="0">
                <a:solidFill>
                  <a:srgbClr val="1F1E1E"/>
                </a:solidFill>
                <a:latin typeface="Sora SemiBold" pitchFamily="34" charset="0"/>
                <a:ea typeface="Sora SemiBold" pitchFamily="34" charset="-122"/>
                <a:cs typeface="Sora SemiBold" pitchFamily="34" charset="-120"/>
              </a:rPr>
              <a:t>ContinuumOS</a:t>
            </a:r>
            <a:endParaRPr lang="en-US" sz="6100" dirty="0"/>
          </a:p>
        </p:txBody>
      </p:sp>
      <p:sp>
        <p:nvSpPr>
          <p:cNvPr id="6" name="Text 3"/>
          <p:cNvSpPr/>
          <p:nvPr/>
        </p:nvSpPr>
        <p:spPr>
          <a:xfrm>
            <a:off x="631908" y="1922363"/>
            <a:ext cx="7879954" cy="9717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050" dirty="0">
                <a:solidFill>
                  <a:srgbClr val="1F1E1E"/>
                </a:solidFill>
                <a:latin typeface="Sora SemiBold" pitchFamily="34" charset="0"/>
                <a:ea typeface="Sora SemiBold" pitchFamily="34" charset="-122"/>
                <a:cs typeface="Sora SemiBold" pitchFamily="34" charset="-120"/>
              </a:rPr>
              <a:t>Closing the gap between a diagnostic result and a confirmed next step</a:t>
            </a:r>
            <a:endParaRPr lang="en-US" sz="3050" dirty="0"/>
          </a:p>
        </p:txBody>
      </p:sp>
      <p:sp>
        <p:nvSpPr>
          <p:cNvPr id="7" name="Text 4"/>
          <p:cNvSpPr/>
          <p:nvPr/>
        </p:nvSpPr>
        <p:spPr>
          <a:xfrm>
            <a:off x="631908" y="3101280"/>
            <a:ext cx="8489539" cy="2286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1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 </a:t>
            </a:r>
            <a:endParaRPr lang="en-US" sz="115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8952" y="3485356"/>
            <a:ext cx="7485867" cy="1980803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406470" y="4155105"/>
            <a:ext cx="1131530" cy="2133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1F1E1E"/>
                </a:solidFill>
                <a:latin typeface="Sora SemiBold" pitchFamily="34" charset="0"/>
                <a:ea typeface="Sora SemiBold" pitchFamily="34" charset="-122"/>
                <a:cs typeface="Sora SemiBold" pitchFamily="34" charset="-120"/>
              </a:rPr>
              <a:t>Clinic</a:t>
            </a:r>
            <a:endParaRPr lang="en-US" sz="1300" dirty="0"/>
          </a:p>
        </p:txBody>
      </p:sp>
      <p:sp>
        <p:nvSpPr>
          <p:cNvPr id="10" name="Text 6"/>
          <p:cNvSpPr/>
          <p:nvPr/>
        </p:nvSpPr>
        <p:spPr>
          <a:xfrm>
            <a:off x="1406470" y="4426034"/>
            <a:ext cx="1131530" cy="3135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1000"/>
              </a:lnSpc>
              <a:buNone/>
            </a:pPr>
            <a:r>
              <a:rPr lang="en-US" sz="10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Patient visit and intake</a:t>
            </a:r>
            <a:endParaRPr lang="en-US" sz="1000" dirty="0"/>
          </a:p>
        </p:txBody>
      </p:sp>
      <p:sp>
        <p:nvSpPr>
          <p:cNvPr id="11" name="Text 7"/>
          <p:cNvSpPr/>
          <p:nvPr/>
        </p:nvSpPr>
        <p:spPr>
          <a:xfrm>
            <a:off x="2703121" y="4054927"/>
            <a:ext cx="1131530" cy="2133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1F1E1E"/>
                </a:solidFill>
                <a:latin typeface="Sora SemiBold" pitchFamily="34" charset="0"/>
                <a:ea typeface="Sora SemiBold" pitchFamily="34" charset="-122"/>
                <a:cs typeface="Sora SemiBold" pitchFamily="34" charset="-120"/>
              </a:rPr>
              <a:t>Diagnostics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2703121" y="4325857"/>
            <a:ext cx="1131530" cy="4703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1000"/>
              </a:lnSpc>
              <a:buNone/>
            </a:pPr>
            <a:r>
              <a:rPr lang="en-US" sz="10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Tests and imaging conducted</a:t>
            </a:r>
            <a:endParaRPr lang="en-US" sz="1000" dirty="0"/>
          </a:p>
        </p:txBody>
      </p:sp>
      <p:sp>
        <p:nvSpPr>
          <p:cNvPr id="13" name="Text 9"/>
          <p:cNvSpPr/>
          <p:nvPr/>
        </p:nvSpPr>
        <p:spPr>
          <a:xfrm>
            <a:off x="3999771" y="4155105"/>
            <a:ext cx="1131530" cy="426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1F1E1E"/>
                </a:solidFill>
                <a:latin typeface="Sora SemiBold" pitchFamily="34" charset="0"/>
                <a:ea typeface="Sora SemiBold" pitchFamily="34" charset="-122"/>
                <a:cs typeface="Sora SemiBold" pitchFamily="34" charset="-120"/>
              </a:rPr>
              <a:t>Clinical review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3999771" y="4639335"/>
            <a:ext cx="1131530" cy="3135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1000"/>
              </a:lnSpc>
              <a:buNone/>
            </a:pPr>
            <a:r>
              <a:rPr lang="en-US" sz="10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Provider evaluates results</a:t>
            </a:r>
            <a:endParaRPr lang="en-US" sz="1000" dirty="0"/>
          </a:p>
        </p:txBody>
      </p:sp>
      <p:sp>
        <p:nvSpPr>
          <p:cNvPr id="15" name="Text 11"/>
          <p:cNvSpPr/>
          <p:nvPr/>
        </p:nvSpPr>
        <p:spPr>
          <a:xfrm>
            <a:off x="5296421" y="4054927"/>
            <a:ext cx="1131530" cy="2133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1F1E1E"/>
                </a:solidFill>
                <a:latin typeface="Sora SemiBold" pitchFamily="34" charset="0"/>
                <a:ea typeface="Sora SemiBold" pitchFamily="34" charset="-122"/>
                <a:cs typeface="Sora SemiBold" pitchFamily="34" charset="-120"/>
              </a:rPr>
              <a:t>Handoff</a:t>
            </a:r>
            <a:endParaRPr lang="en-US" sz="1300" dirty="0"/>
          </a:p>
        </p:txBody>
      </p:sp>
      <p:sp>
        <p:nvSpPr>
          <p:cNvPr id="16" name="Text 12"/>
          <p:cNvSpPr/>
          <p:nvPr/>
        </p:nvSpPr>
        <p:spPr>
          <a:xfrm>
            <a:off x="5296421" y="4325857"/>
            <a:ext cx="1131530" cy="4703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1000"/>
              </a:lnSpc>
              <a:buNone/>
            </a:pPr>
            <a:r>
              <a:rPr lang="en-US" sz="10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Care coordination and transfer</a:t>
            </a:r>
            <a:endParaRPr lang="en-US" sz="1000" dirty="0"/>
          </a:p>
        </p:txBody>
      </p:sp>
      <p:sp>
        <p:nvSpPr>
          <p:cNvPr id="17" name="Text 13"/>
          <p:cNvSpPr/>
          <p:nvPr/>
        </p:nvSpPr>
        <p:spPr>
          <a:xfrm>
            <a:off x="6600275" y="4155105"/>
            <a:ext cx="1131530" cy="426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1F1E1E"/>
                </a:solidFill>
                <a:latin typeface="Sora SemiBold" pitchFamily="34" charset="0"/>
                <a:ea typeface="Sora SemiBold" pitchFamily="34" charset="-122"/>
                <a:cs typeface="Sora SemiBold" pitchFamily="34" charset="-120"/>
              </a:rPr>
              <a:t>Confirmed next step</a:t>
            </a:r>
            <a:endParaRPr lang="en-US" sz="1300" dirty="0"/>
          </a:p>
        </p:txBody>
      </p:sp>
      <p:sp>
        <p:nvSpPr>
          <p:cNvPr id="18" name="Text 14"/>
          <p:cNvSpPr/>
          <p:nvPr/>
        </p:nvSpPr>
        <p:spPr>
          <a:xfrm>
            <a:off x="6600275" y="4639335"/>
            <a:ext cx="1131530" cy="3135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1000"/>
              </a:lnSpc>
              <a:buNone/>
            </a:pPr>
            <a:r>
              <a:rPr lang="en-US" sz="10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Action plan established</a:t>
            </a:r>
            <a:endParaRPr lang="en-US" sz="1000" dirty="0"/>
          </a:p>
        </p:txBody>
      </p:sp>
      <p:sp>
        <p:nvSpPr>
          <p:cNvPr id="19" name="Text 15"/>
          <p:cNvSpPr/>
          <p:nvPr/>
        </p:nvSpPr>
        <p:spPr>
          <a:xfrm>
            <a:off x="631908" y="5621536"/>
            <a:ext cx="8489539" cy="2286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1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 </a:t>
            </a:r>
            <a:endParaRPr lang="en-US" sz="1150" dirty="0"/>
          </a:p>
        </p:txBody>
      </p:sp>
      <p:sp>
        <p:nvSpPr>
          <p:cNvPr id="20" name="Text 16"/>
          <p:cNvSpPr/>
          <p:nvPr/>
        </p:nvSpPr>
        <p:spPr>
          <a:xfrm>
            <a:off x="631908" y="6005612"/>
            <a:ext cx="8489539" cy="285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4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Vishal Falke  ·  Product Management · AI Product Management · Business Analysis</a:t>
            </a:r>
            <a:endParaRPr lang="en-US" sz="1450" dirty="0"/>
          </a:p>
        </p:txBody>
      </p:sp>
      <p:sp>
        <p:nvSpPr>
          <p:cNvPr id="21" name="Text 17"/>
          <p:cNvSpPr/>
          <p:nvPr/>
        </p:nvSpPr>
        <p:spPr>
          <a:xfrm>
            <a:off x="3011511" y="6523038"/>
            <a:ext cx="6021733" cy="132755"/>
          </a:xfrm>
          <a:prstGeom prst="rect">
            <a:avLst/>
          </a:prstGeom>
          <a:noFill/>
          <a:ln/>
        </p:spPr>
        <p:txBody>
          <a:bodyPr wrap="none" lIns="0" tIns="49763" rIns="82939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ContinuumOS · Independent portfolio product case · Synthetic data and simulated integrations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31908" y="779859"/>
            <a:ext cx="1154778" cy="191988"/>
          </a:xfrm>
          <a:prstGeom prst="roundRect">
            <a:avLst>
              <a:gd name="adj" fmla="val 22118"/>
            </a:avLst>
          </a:prstGeom>
          <a:noFill/>
          <a:ln w="6350">
            <a:solidFill>
              <a:srgbClr val="DA1B2E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707710" y="817761"/>
            <a:ext cx="1612760" cy="1161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750" dirty="0">
                <a:solidFill>
                  <a:srgbClr val="DA1B2E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THE REAL PROBLEM</a:t>
            </a:r>
            <a:endParaRPr lang="en-US" sz="750" dirty="0"/>
          </a:p>
        </p:txBody>
      </p:sp>
      <p:sp>
        <p:nvSpPr>
          <p:cNvPr id="5" name="Text 2"/>
          <p:cNvSpPr/>
          <p:nvPr/>
        </p:nvSpPr>
        <p:spPr>
          <a:xfrm>
            <a:off x="631908" y="1012230"/>
            <a:ext cx="6355993" cy="4157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600" dirty="0">
                <a:solidFill>
                  <a:srgbClr val="1F1E1E"/>
                </a:solidFill>
                <a:latin typeface="Sora SemiBold" pitchFamily="34" charset="0"/>
                <a:ea typeface="Sora SemiBold" pitchFamily="34" charset="-122"/>
                <a:cs typeface="Sora SemiBold" pitchFamily="34" charset="-120"/>
              </a:rPr>
              <a:t>The Real Problem Is Not Missing Data</a:t>
            </a:r>
            <a:endParaRPr lang="en-US" sz="2600" dirty="0"/>
          </a:p>
        </p:txBody>
      </p:sp>
      <p:sp>
        <p:nvSpPr>
          <p:cNvPr id="6" name="Text 3"/>
          <p:cNvSpPr/>
          <p:nvPr/>
        </p:nvSpPr>
        <p:spPr>
          <a:xfrm>
            <a:off x="631908" y="1579563"/>
            <a:ext cx="6355993" cy="4548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Healthcare teams often have the data. They do not always have accountable closure.</a:t>
            </a:r>
            <a:endParaRPr lang="en-US" sz="120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31908" y="2148086"/>
            <a:ext cx="6355993" cy="485874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821709" y="2287091"/>
            <a:ext cx="6027190" cy="2078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3B3535"/>
                </a:solidFill>
                <a:latin typeface="Sora SemiBold" pitchFamily="34" charset="0"/>
                <a:ea typeface="Sora SemiBold" pitchFamily="34" charset="-122"/>
                <a:cs typeface="Sora SemiBold" pitchFamily="34" charset="-120"/>
              </a:rPr>
              <a:t>Result available ≠ clinician acknowledgement</a:t>
            </a:r>
            <a:endParaRPr lang="en-US" sz="130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31908" y="2735064"/>
            <a:ext cx="6355993" cy="485874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821709" y="2874070"/>
            <a:ext cx="6027190" cy="2078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3B3535"/>
                </a:solidFill>
                <a:latin typeface="Sora SemiBold" pitchFamily="34" charset="0"/>
                <a:ea typeface="Sora SemiBold" pitchFamily="34" charset="-122"/>
                <a:cs typeface="Sora SemiBold" pitchFamily="34" charset="-120"/>
              </a:rPr>
              <a:t>Referral sent ≠ receiving-team response</a:t>
            </a:r>
            <a:endParaRPr lang="en-US" sz="1300" dirty="0"/>
          </a:p>
        </p:txBody>
      </p:sp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31908" y="3322042"/>
            <a:ext cx="6355993" cy="485874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821709" y="3461048"/>
            <a:ext cx="6027190" cy="2078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3B3535"/>
                </a:solidFill>
                <a:latin typeface="Sora SemiBold" pitchFamily="34" charset="0"/>
                <a:ea typeface="Sora SemiBold" pitchFamily="34" charset="-122"/>
                <a:cs typeface="Sora SemiBold" pitchFamily="34" charset="-120"/>
              </a:rPr>
              <a:t>Message delivered ≠ next step confirmed</a:t>
            </a:r>
            <a:endParaRPr lang="en-US" sz="1300" dirty="0"/>
          </a:p>
        </p:txBody>
      </p:sp>
      <p:sp>
        <p:nvSpPr>
          <p:cNvPr id="13" name="Text 7"/>
          <p:cNvSpPr/>
          <p:nvPr/>
        </p:nvSpPr>
        <p:spPr>
          <a:xfrm>
            <a:off x="821411" y="4035326"/>
            <a:ext cx="6166489" cy="4548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The failure occurs between systems, teams and decision gates, not inside one record alone.</a:t>
            </a:r>
            <a:endParaRPr lang="en-US" sz="1200" dirty="0"/>
          </a:p>
        </p:txBody>
      </p:sp>
      <p:sp>
        <p:nvSpPr>
          <p:cNvPr id="14" name="Shape 8"/>
          <p:cNvSpPr/>
          <p:nvPr/>
        </p:nvSpPr>
        <p:spPr>
          <a:xfrm>
            <a:off x="631908" y="3921621"/>
            <a:ext cx="12700" cy="682228"/>
          </a:xfrm>
          <a:prstGeom prst="roundRect">
            <a:avLst>
              <a:gd name="adj" fmla="val 49999"/>
            </a:avLst>
          </a:prstGeom>
          <a:solidFill>
            <a:srgbClr val="DA1B2E"/>
          </a:solidFill>
          <a:ln/>
        </p:spPr>
      </p:sp>
      <p:sp>
        <p:nvSpPr>
          <p:cNvPr id="15" name="Shape 9"/>
          <p:cNvSpPr/>
          <p:nvPr/>
        </p:nvSpPr>
        <p:spPr>
          <a:xfrm>
            <a:off x="631908" y="4749105"/>
            <a:ext cx="6355993" cy="12700"/>
          </a:xfrm>
          <a:prstGeom prst="roundRect">
            <a:avLst>
              <a:gd name="adj" fmla="val 49999"/>
            </a:avLst>
          </a:prstGeom>
          <a:solidFill>
            <a:srgbClr val="3B3535">
              <a:alpha val="50000"/>
            </a:srgbClr>
          </a:solidFill>
          <a:ln/>
        </p:spPr>
      </p:sp>
      <p:sp>
        <p:nvSpPr>
          <p:cNvPr id="16" name="Text 10"/>
          <p:cNvSpPr/>
          <p:nvPr/>
        </p:nvSpPr>
        <p:spPr>
          <a:xfrm>
            <a:off x="631908" y="4907062"/>
            <a:ext cx="6965577" cy="1455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750" i="1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Problem-framing inputs</a:t>
            </a:r>
            <a:endParaRPr lang="en-US" sz="750" dirty="0"/>
          </a:p>
        </p:txBody>
      </p:sp>
      <p:sp>
        <p:nvSpPr>
          <p:cNvPr id="17" name="Shape 11"/>
          <p:cNvSpPr/>
          <p:nvPr/>
        </p:nvSpPr>
        <p:spPr>
          <a:xfrm>
            <a:off x="631908" y="5166320"/>
            <a:ext cx="6355993" cy="809030"/>
          </a:xfrm>
          <a:prstGeom prst="roundRect">
            <a:avLst>
              <a:gd name="adj" fmla="val 6561"/>
            </a:avLst>
          </a:prstGeom>
          <a:solidFill>
            <a:srgbClr val="F9D2D6"/>
          </a:solidFill>
          <a:ln w="6350">
            <a:solidFill>
              <a:srgbClr val="DFB8BC"/>
            </a:solidFill>
            <a:prstDash val="solid"/>
          </a:ln>
        </p:spPr>
      </p:sp>
      <p:sp>
        <p:nvSpPr>
          <p:cNvPr id="18" name="Shape 12"/>
          <p:cNvSpPr/>
          <p:nvPr/>
        </p:nvSpPr>
        <p:spPr>
          <a:xfrm>
            <a:off x="638258" y="5172670"/>
            <a:ext cx="2114398" cy="398165"/>
          </a:xfrm>
          <a:custGeom>
            <a:avLst/>
            <a:gdLst/>
            <a:ahLst/>
            <a:cxnLst/>
            <a:rect l="l" t="t" r="r" b="b"/>
            <a:pathLst>
              <a:path w="2114398" h="398165">
                <a:moveTo>
                  <a:pt x="44234" y="0"/>
                </a:moveTo>
                <a:lnTo>
                  <a:pt x="2114398" y="0"/>
                </a:lnTo>
                <a:lnTo>
                  <a:pt x="2114398" y="398165"/>
                </a:lnTo>
                <a:lnTo>
                  <a:pt x="0" y="398165"/>
                </a:lnTo>
                <a:lnTo>
                  <a:pt x="0" y="44235"/>
                </a:lnTo>
                <a:arcTo hR="44235" wR="44234" stAng="10800000" swAng="5400000"/>
                <a:close/>
              </a:path>
            </a:pathLst>
          </a:custGeom>
          <a:solidFill>
            <a:srgbClr val="F9D2D6"/>
          </a:solidFill>
          <a:ln/>
        </p:spPr>
      </p:sp>
      <p:sp>
        <p:nvSpPr>
          <p:cNvPr id="19" name="Text 13"/>
          <p:cNvSpPr/>
          <p:nvPr/>
        </p:nvSpPr>
        <p:spPr>
          <a:xfrm>
            <a:off x="764561" y="5298976"/>
            <a:ext cx="1861793" cy="1455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Workflow decomposition</a:t>
            </a:r>
            <a:endParaRPr lang="en-US" sz="750" dirty="0"/>
          </a:p>
        </p:txBody>
      </p:sp>
      <p:sp>
        <p:nvSpPr>
          <p:cNvPr id="20" name="Shape 14"/>
          <p:cNvSpPr/>
          <p:nvPr/>
        </p:nvSpPr>
        <p:spPr>
          <a:xfrm>
            <a:off x="2752656" y="5172670"/>
            <a:ext cx="2114398" cy="398165"/>
          </a:xfrm>
          <a:prstGeom prst="rect">
            <a:avLst/>
          </a:prstGeom>
          <a:solidFill>
            <a:srgbClr val="F9D2D6"/>
          </a:solidFill>
          <a:ln/>
        </p:spPr>
      </p:sp>
      <p:sp>
        <p:nvSpPr>
          <p:cNvPr id="21" name="Shape 15"/>
          <p:cNvSpPr/>
          <p:nvPr/>
        </p:nvSpPr>
        <p:spPr>
          <a:xfrm>
            <a:off x="2752656" y="5172670"/>
            <a:ext cx="12700" cy="398165"/>
          </a:xfrm>
          <a:prstGeom prst="roundRect">
            <a:avLst>
              <a:gd name="adj" fmla="val 49999"/>
            </a:avLst>
          </a:prstGeom>
          <a:solidFill>
            <a:srgbClr val="DFB8BC"/>
          </a:solidFill>
          <a:ln/>
        </p:spPr>
      </p:sp>
      <p:sp>
        <p:nvSpPr>
          <p:cNvPr id="22" name="Text 16"/>
          <p:cNvSpPr/>
          <p:nvPr/>
        </p:nvSpPr>
        <p:spPr>
          <a:xfrm>
            <a:off x="2878958" y="5298976"/>
            <a:ext cx="1861793" cy="1455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Role and authority mapping</a:t>
            </a:r>
            <a:endParaRPr lang="en-US" sz="750" dirty="0"/>
          </a:p>
        </p:txBody>
      </p:sp>
      <p:sp>
        <p:nvSpPr>
          <p:cNvPr id="23" name="Shape 17"/>
          <p:cNvSpPr/>
          <p:nvPr/>
        </p:nvSpPr>
        <p:spPr>
          <a:xfrm>
            <a:off x="4867054" y="5172670"/>
            <a:ext cx="2114497" cy="398165"/>
          </a:xfrm>
          <a:custGeom>
            <a:avLst/>
            <a:gdLst/>
            <a:ahLst/>
            <a:cxnLst/>
            <a:rect l="l" t="t" r="r" b="b"/>
            <a:pathLst>
              <a:path w="2114497" h="398165">
                <a:moveTo>
                  <a:pt x="0" y="0"/>
                </a:moveTo>
                <a:lnTo>
                  <a:pt x="2070263" y="0"/>
                </a:lnTo>
                <a:arcTo hR="44235" wR="44234" stAng="16200000" swAng="5400000"/>
                <a:lnTo>
                  <a:pt x="2114497" y="398165"/>
                </a:lnTo>
                <a:lnTo>
                  <a:pt x="0" y="398165"/>
                </a:lnTo>
                <a:lnTo>
                  <a:pt x="0" y="0"/>
                </a:lnTo>
                <a:close/>
              </a:path>
            </a:pathLst>
          </a:custGeom>
          <a:solidFill>
            <a:srgbClr val="F9D2D6"/>
          </a:solidFill>
          <a:ln/>
        </p:spPr>
      </p:sp>
      <p:sp>
        <p:nvSpPr>
          <p:cNvPr id="24" name="Shape 18"/>
          <p:cNvSpPr/>
          <p:nvPr/>
        </p:nvSpPr>
        <p:spPr>
          <a:xfrm>
            <a:off x="4867054" y="5172670"/>
            <a:ext cx="12700" cy="398165"/>
          </a:xfrm>
          <a:prstGeom prst="roundRect">
            <a:avLst>
              <a:gd name="adj" fmla="val 49999"/>
            </a:avLst>
          </a:prstGeom>
          <a:solidFill>
            <a:srgbClr val="DFB8BC"/>
          </a:solidFill>
          <a:ln/>
        </p:spPr>
      </p:sp>
      <p:sp>
        <p:nvSpPr>
          <p:cNvPr id="25" name="Text 19"/>
          <p:cNvSpPr/>
          <p:nvPr/>
        </p:nvSpPr>
        <p:spPr>
          <a:xfrm>
            <a:off x="4993356" y="5298976"/>
            <a:ext cx="1861892" cy="1455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Failure-mode analysis</a:t>
            </a:r>
            <a:endParaRPr lang="en-US" sz="750" dirty="0"/>
          </a:p>
        </p:txBody>
      </p:sp>
      <p:sp>
        <p:nvSpPr>
          <p:cNvPr id="26" name="Shape 20"/>
          <p:cNvSpPr/>
          <p:nvPr/>
        </p:nvSpPr>
        <p:spPr>
          <a:xfrm>
            <a:off x="638258" y="5570835"/>
            <a:ext cx="6343293" cy="398165"/>
          </a:xfrm>
          <a:custGeom>
            <a:avLst/>
            <a:gdLst/>
            <a:ahLst/>
            <a:cxnLst/>
            <a:rect l="l" t="t" r="r" b="b"/>
            <a:pathLst>
              <a:path w="6343293" h="398165">
                <a:moveTo>
                  <a:pt x="0" y="0"/>
                </a:moveTo>
                <a:lnTo>
                  <a:pt x="6343293" y="0"/>
                </a:lnTo>
                <a:lnTo>
                  <a:pt x="6343293" y="353930"/>
                </a:lnTo>
                <a:arcTo hR="44235" wR="44234" stAng="0" swAng="5400000"/>
                <a:lnTo>
                  <a:pt x="44234" y="398165"/>
                </a:lnTo>
                <a:arcTo hR="44235" wR="44234" stAng="5400000" swAng="5400000"/>
                <a:lnTo>
                  <a:pt x="0" y="0"/>
                </a:lnTo>
                <a:close/>
              </a:path>
            </a:pathLst>
          </a:custGeom>
          <a:solidFill>
            <a:srgbClr val="F9D2D6"/>
          </a:solidFill>
          <a:ln/>
        </p:spPr>
      </p:sp>
      <p:sp>
        <p:nvSpPr>
          <p:cNvPr id="27" name="Shape 21"/>
          <p:cNvSpPr/>
          <p:nvPr/>
        </p:nvSpPr>
        <p:spPr>
          <a:xfrm>
            <a:off x="638258" y="5570835"/>
            <a:ext cx="6343293" cy="12700"/>
          </a:xfrm>
          <a:prstGeom prst="roundRect">
            <a:avLst>
              <a:gd name="adj" fmla="val 49999"/>
            </a:avLst>
          </a:prstGeom>
          <a:solidFill>
            <a:srgbClr val="DFB8BC"/>
          </a:solidFill>
          <a:ln/>
        </p:spPr>
      </p:sp>
      <p:sp>
        <p:nvSpPr>
          <p:cNvPr id="28" name="Text 22"/>
          <p:cNvSpPr/>
          <p:nvPr/>
        </p:nvSpPr>
        <p:spPr>
          <a:xfrm>
            <a:off x="764561" y="5697141"/>
            <a:ext cx="6090688" cy="1455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Synthetic episode walkthrough</a:t>
            </a:r>
            <a:endParaRPr lang="en-US" sz="750" dirty="0"/>
          </a:p>
        </p:txBody>
      </p:sp>
      <p:sp>
        <p:nvSpPr>
          <p:cNvPr id="29" name="Text 23"/>
          <p:cNvSpPr/>
          <p:nvPr/>
        </p:nvSpPr>
        <p:spPr>
          <a:xfrm>
            <a:off x="1487550" y="6523038"/>
            <a:ext cx="6021733" cy="132755"/>
          </a:xfrm>
          <a:prstGeom prst="rect">
            <a:avLst/>
          </a:prstGeom>
          <a:noFill/>
          <a:ln/>
        </p:spPr>
        <p:txBody>
          <a:bodyPr wrap="none" lIns="0" tIns="49763" rIns="82939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ContinuumOS · Independent portfolio product case · Synthetic data and simulated integrations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31908" y="434380"/>
            <a:ext cx="1445383" cy="191988"/>
          </a:xfrm>
          <a:prstGeom prst="roundRect">
            <a:avLst>
              <a:gd name="adj" fmla="val 22118"/>
            </a:avLst>
          </a:prstGeom>
          <a:noFill/>
          <a:ln w="6350">
            <a:solidFill>
              <a:srgbClr val="DA1B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07710" y="472281"/>
            <a:ext cx="1903365" cy="1161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750" dirty="0">
                <a:solidFill>
                  <a:srgbClr val="DA1B2E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THE PRODUCT DECISION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631908" y="666750"/>
            <a:ext cx="10927878" cy="4157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600" dirty="0">
                <a:solidFill>
                  <a:srgbClr val="1F1E1E"/>
                </a:solidFill>
                <a:latin typeface="Sora SemiBold" pitchFamily="34" charset="0"/>
                <a:ea typeface="Sora SemiBold" pitchFamily="34" charset="-122"/>
                <a:cs typeface="Sora SemiBold" pitchFamily="34" charset="-120"/>
              </a:rPr>
              <a:t>I Did Not Start by Replacing the EHR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31908" y="1234083"/>
            <a:ext cx="11537463" cy="2274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I chose one bounded wedge: </a:t>
            </a:r>
            <a:pPr algn="l"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3B3535"/>
                </a:solidFill>
                <a:latin typeface="Sora Bold" pitchFamily="34" charset="0"/>
                <a:ea typeface="Sora Bold" pitchFamily="34" charset="-122"/>
                <a:cs typeface="Sora Bold" pitchFamily="34" charset="-120"/>
              </a:rPr>
              <a:t>diagnostic closure.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31908" y="1688902"/>
            <a:ext cx="5085032" cy="705545"/>
          </a:xfrm>
          <a:prstGeom prst="roundRect">
            <a:avLst>
              <a:gd name="adj" fmla="val 7523"/>
            </a:avLst>
          </a:prstGeom>
          <a:solidFill>
            <a:srgbClr val="F9D2D6"/>
          </a:solidFill>
          <a:ln w="6350">
            <a:solidFill>
              <a:srgbClr val="DFB8B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64561" y="1821557"/>
            <a:ext cx="931145" cy="191988"/>
          </a:xfrm>
          <a:prstGeom prst="roundRect">
            <a:avLst>
              <a:gd name="adj" fmla="val 22118"/>
            </a:avLst>
          </a:prstGeom>
          <a:noFill/>
          <a:ln w="6350">
            <a:solidFill>
              <a:srgbClr val="DA1B2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40362" y="1859459"/>
            <a:ext cx="779542" cy="1161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750" dirty="0">
                <a:solidFill>
                  <a:srgbClr val="DA1B2E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NOT SELECTED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764561" y="2053927"/>
            <a:ext cx="4819728" cy="2078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3B3535"/>
                </a:solidFill>
                <a:latin typeface="Sora SemiBold" pitchFamily="34" charset="0"/>
                <a:ea typeface="Sora SemiBold" pitchFamily="34" charset="-122"/>
                <a:cs typeface="Sora SemiBold" pitchFamily="34" charset="-120"/>
              </a:rPr>
              <a:t>EHR replacement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31908" y="2495550"/>
            <a:ext cx="5085032" cy="705545"/>
          </a:xfrm>
          <a:prstGeom prst="roundRect">
            <a:avLst>
              <a:gd name="adj" fmla="val 7523"/>
            </a:avLst>
          </a:prstGeom>
          <a:solidFill>
            <a:srgbClr val="F9D2D6"/>
          </a:solidFill>
          <a:ln w="6350">
            <a:solidFill>
              <a:srgbClr val="DFB8B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64561" y="2628205"/>
            <a:ext cx="931145" cy="191988"/>
          </a:xfrm>
          <a:prstGeom prst="roundRect">
            <a:avLst>
              <a:gd name="adj" fmla="val 22118"/>
            </a:avLst>
          </a:prstGeom>
          <a:noFill/>
          <a:ln w="6350">
            <a:solidFill>
              <a:srgbClr val="DA1B2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40362" y="2666107"/>
            <a:ext cx="779542" cy="1161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750" dirty="0">
                <a:solidFill>
                  <a:srgbClr val="DA1B2E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NOT SELECTED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764561" y="2860576"/>
            <a:ext cx="4819728" cy="2078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3B3535"/>
                </a:solidFill>
                <a:latin typeface="Sora SemiBold" pitchFamily="34" charset="0"/>
                <a:ea typeface="Sora SemiBold" pitchFamily="34" charset="-122"/>
                <a:cs typeface="Sora SemiBold" pitchFamily="34" charset="-120"/>
              </a:rPr>
              <a:t>Generic task tracker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31908" y="3302198"/>
            <a:ext cx="5085032" cy="705545"/>
          </a:xfrm>
          <a:prstGeom prst="roundRect">
            <a:avLst>
              <a:gd name="adj" fmla="val 7523"/>
            </a:avLst>
          </a:prstGeom>
          <a:solidFill>
            <a:srgbClr val="F9D2D6"/>
          </a:solidFill>
          <a:ln w="6350">
            <a:solidFill>
              <a:srgbClr val="DFB8B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64561" y="3434854"/>
            <a:ext cx="931145" cy="191988"/>
          </a:xfrm>
          <a:prstGeom prst="roundRect">
            <a:avLst>
              <a:gd name="adj" fmla="val 22118"/>
            </a:avLst>
          </a:prstGeom>
          <a:noFill/>
          <a:ln w="6350">
            <a:solidFill>
              <a:srgbClr val="DA1B2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40362" y="3472755"/>
            <a:ext cx="779542" cy="1161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750" dirty="0">
                <a:solidFill>
                  <a:srgbClr val="DA1B2E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NOT SELECTED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764561" y="3667224"/>
            <a:ext cx="4819728" cy="2078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3B3535"/>
                </a:solidFill>
                <a:latin typeface="Sora SemiBold" pitchFamily="34" charset="0"/>
                <a:ea typeface="Sora SemiBold" pitchFamily="34" charset="-122"/>
                <a:cs typeface="Sora SemiBold" pitchFamily="34" charset="-120"/>
              </a:rPr>
              <a:t>Broad care-orchestration platform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31908" y="4108847"/>
            <a:ext cx="5085032" cy="705545"/>
          </a:xfrm>
          <a:prstGeom prst="roundRect">
            <a:avLst>
              <a:gd name="adj" fmla="val 7523"/>
            </a:avLst>
          </a:prstGeom>
          <a:solidFill>
            <a:srgbClr val="F9D2D6"/>
          </a:solidFill>
          <a:ln w="6350">
            <a:solidFill>
              <a:srgbClr val="DFB8B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64561" y="4241502"/>
            <a:ext cx="931145" cy="191988"/>
          </a:xfrm>
          <a:prstGeom prst="roundRect">
            <a:avLst>
              <a:gd name="adj" fmla="val 22118"/>
            </a:avLst>
          </a:prstGeom>
          <a:noFill/>
          <a:ln w="6350">
            <a:solidFill>
              <a:srgbClr val="DA1B2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40362" y="4279404"/>
            <a:ext cx="779542" cy="1161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750" dirty="0">
                <a:solidFill>
                  <a:srgbClr val="DA1B2E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NOT SELECTED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764561" y="4473873"/>
            <a:ext cx="4819728" cy="2078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3B3535"/>
                </a:solidFill>
                <a:latin typeface="Sora SemiBold" pitchFamily="34" charset="0"/>
                <a:ea typeface="Sora SemiBold" pitchFamily="34" charset="-122"/>
                <a:cs typeface="Sora SemiBold" pitchFamily="34" charset="-120"/>
              </a:rPr>
              <a:t>Autonomous AI agent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031655" y="1688902"/>
            <a:ext cx="5534482" cy="705545"/>
          </a:xfrm>
          <a:prstGeom prst="roundRect">
            <a:avLst>
              <a:gd name="adj" fmla="val 7523"/>
            </a:avLst>
          </a:prstGeom>
          <a:solidFill>
            <a:srgbClr val="F9D2D6"/>
          </a:solidFill>
          <a:ln w="6350">
            <a:solidFill>
              <a:srgbClr val="DFB8B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164307" y="1821557"/>
            <a:ext cx="678143" cy="191988"/>
          </a:xfrm>
          <a:prstGeom prst="roundRect">
            <a:avLst>
              <a:gd name="adj" fmla="val 22118"/>
            </a:avLst>
          </a:prstGeom>
          <a:solidFill>
            <a:srgbClr val="F9D2D6"/>
          </a:solidFill>
          <a:ln/>
        </p:spPr>
      </p:sp>
      <p:sp>
        <p:nvSpPr>
          <p:cNvPr id="24" name="Text 22"/>
          <p:cNvSpPr/>
          <p:nvPr/>
        </p:nvSpPr>
        <p:spPr>
          <a:xfrm>
            <a:off x="6240108" y="1859459"/>
            <a:ext cx="526541" cy="1161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7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SELECTED</a:t>
            </a:r>
            <a:endParaRPr lang="en-US" sz="750" dirty="0"/>
          </a:p>
        </p:txBody>
      </p:sp>
      <p:sp>
        <p:nvSpPr>
          <p:cNvPr id="25" name="Text 23"/>
          <p:cNvSpPr/>
          <p:nvPr/>
        </p:nvSpPr>
        <p:spPr>
          <a:xfrm>
            <a:off x="6164307" y="2053927"/>
            <a:ext cx="5269178" cy="2078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3B3535"/>
                </a:solidFill>
                <a:latin typeface="Sora SemiBold" pitchFamily="34" charset="0"/>
                <a:ea typeface="Sora SemiBold" pitchFamily="34" charset="-122"/>
                <a:cs typeface="Sora SemiBold" pitchFamily="34" charset="-120"/>
              </a:rPr>
              <a:t>Workflow overlay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6031655" y="2495550"/>
            <a:ext cx="5534482" cy="705545"/>
          </a:xfrm>
          <a:prstGeom prst="roundRect">
            <a:avLst>
              <a:gd name="adj" fmla="val 7523"/>
            </a:avLst>
          </a:prstGeom>
          <a:solidFill>
            <a:srgbClr val="F9D2D6"/>
          </a:solidFill>
          <a:ln w="6350">
            <a:solidFill>
              <a:srgbClr val="DFB8BC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164307" y="2628205"/>
            <a:ext cx="678143" cy="191988"/>
          </a:xfrm>
          <a:prstGeom prst="roundRect">
            <a:avLst>
              <a:gd name="adj" fmla="val 22118"/>
            </a:avLst>
          </a:prstGeom>
          <a:solidFill>
            <a:srgbClr val="F9D2D6"/>
          </a:solidFill>
          <a:ln/>
        </p:spPr>
      </p:sp>
      <p:sp>
        <p:nvSpPr>
          <p:cNvPr id="28" name="Text 26"/>
          <p:cNvSpPr/>
          <p:nvPr/>
        </p:nvSpPr>
        <p:spPr>
          <a:xfrm>
            <a:off x="6240108" y="2666107"/>
            <a:ext cx="526541" cy="1161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7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SELECTED</a:t>
            </a:r>
            <a:endParaRPr lang="en-US" sz="750" dirty="0"/>
          </a:p>
        </p:txBody>
      </p:sp>
      <p:sp>
        <p:nvSpPr>
          <p:cNvPr id="29" name="Text 27"/>
          <p:cNvSpPr/>
          <p:nvPr/>
        </p:nvSpPr>
        <p:spPr>
          <a:xfrm>
            <a:off x="6164307" y="2860576"/>
            <a:ext cx="5269178" cy="2078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3B3535"/>
                </a:solidFill>
                <a:latin typeface="Sora SemiBold" pitchFamily="34" charset="0"/>
                <a:ea typeface="Sora SemiBold" pitchFamily="34" charset="-122"/>
                <a:cs typeface="Sora SemiBold" pitchFamily="34" charset="-120"/>
              </a:rPr>
              <a:t>Evidence-gated orchestration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6031655" y="3302198"/>
            <a:ext cx="5534482" cy="705545"/>
          </a:xfrm>
          <a:prstGeom prst="roundRect">
            <a:avLst>
              <a:gd name="adj" fmla="val 7523"/>
            </a:avLst>
          </a:prstGeom>
          <a:solidFill>
            <a:srgbClr val="F9D2D6"/>
          </a:solidFill>
          <a:ln w="6350">
            <a:solidFill>
              <a:srgbClr val="DFB8BC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164307" y="3434854"/>
            <a:ext cx="678143" cy="191988"/>
          </a:xfrm>
          <a:prstGeom prst="roundRect">
            <a:avLst>
              <a:gd name="adj" fmla="val 22118"/>
            </a:avLst>
          </a:prstGeom>
          <a:solidFill>
            <a:srgbClr val="F9D2D6"/>
          </a:solidFill>
          <a:ln/>
        </p:spPr>
      </p:sp>
      <p:sp>
        <p:nvSpPr>
          <p:cNvPr id="32" name="Text 30"/>
          <p:cNvSpPr/>
          <p:nvPr/>
        </p:nvSpPr>
        <p:spPr>
          <a:xfrm>
            <a:off x="6240108" y="3472755"/>
            <a:ext cx="526541" cy="1161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7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SELECTED</a:t>
            </a:r>
            <a:endParaRPr lang="en-US" sz="750" dirty="0"/>
          </a:p>
        </p:txBody>
      </p:sp>
      <p:sp>
        <p:nvSpPr>
          <p:cNvPr id="33" name="Text 31"/>
          <p:cNvSpPr/>
          <p:nvPr/>
        </p:nvSpPr>
        <p:spPr>
          <a:xfrm>
            <a:off x="6164307" y="3667224"/>
            <a:ext cx="5269178" cy="2078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3B3535"/>
                </a:solidFill>
                <a:latin typeface="Sora SemiBold" pitchFamily="34" charset="0"/>
                <a:ea typeface="Sora SemiBold" pitchFamily="34" charset="-122"/>
                <a:cs typeface="Sora SemiBold" pitchFamily="34" charset="-120"/>
              </a:rPr>
              <a:t>One credible care pathway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6031655" y="4108847"/>
            <a:ext cx="5534482" cy="705545"/>
          </a:xfrm>
          <a:prstGeom prst="roundRect">
            <a:avLst>
              <a:gd name="adj" fmla="val 7523"/>
            </a:avLst>
          </a:prstGeom>
          <a:solidFill>
            <a:srgbClr val="F9D2D6"/>
          </a:solidFill>
          <a:ln w="6350">
            <a:solidFill>
              <a:srgbClr val="DFB8BC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164307" y="4241502"/>
            <a:ext cx="678143" cy="191988"/>
          </a:xfrm>
          <a:prstGeom prst="roundRect">
            <a:avLst>
              <a:gd name="adj" fmla="val 22118"/>
            </a:avLst>
          </a:prstGeom>
          <a:solidFill>
            <a:srgbClr val="F9D2D6"/>
          </a:solidFill>
          <a:ln/>
        </p:spPr>
      </p:sp>
      <p:sp>
        <p:nvSpPr>
          <p:cNvPr id="36" name="Text 34"/>
          <p:cNvSpPr/>
          <p:nvPr/>
        </p:nvSpPr>
        <p:spPr>
          <a:xfrm>
            <a:off x="6240108" y="4279404"/>
            <a:ext cx="526541" cy="1161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7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SELECTED</a:t>
            </a:r>
            <a:endParaRPr lang="en-US" sz="750" dirty="0"/>
          </a:p>
        </p:txBody>
      </p:sp>
      <p:sp>
        <p:nvSpPr>
          <p:cNvPr id="37" name="Text 35"/>
          <p:cNvSpPr/>
          <p:nvPr/>
        </p:nvSpPr>
        <p:spPr>
          <a:xfrm>
            <a:off x="6164307" y="4473873"/>
            <a:ext cx="5269178" cy="2078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3B3535"/>
                </a:solidFill>
                <a:latin typeface="Sora SemiBold" pitchFamily="34" charset="0"/>
                <a:ea typeface="Sora SemiBold" pitchFamily="34" charset="-122"/>
                <a:cs typeface="Sora SemiBold" pitchFamily="34" charset="-120"/>
              </a:rPr>
              <a:t>Human-controlled assistance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821411" y="5155505"/>
            <a:ext cx="11347960" cy="2274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Narrow scope made the workflow testable, governable and measurable.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631908" y="5041801"/>
            <a:ext cx="12700" cy="454819"/>
          </a:xfrm>
          <a:prstGeom prst="roundRect">
            <a:avLst>
              <a:gd name="adj" fmla="val 49999"/>
            </a:avLst>
          </a:prstGeom>
          <a:solidFill>
            <a:srgbClr val="DA1B2E"/>
          </a:solidFill>
          <a:ln/>
        </p:spPr>
      </p:sp>
      <p:sp>
        <p:nvSpPr>
          <p:cNvPr id="40" name="Shape 38"/>
          <p:cNvSpPr/>
          <p:nvPr/>
        </p:nvSpPr>
        <p:spPr>
          <a:xfrm>
            <a:off x="631908" y="5641876"/>
            <a:ext cx="10927878" cy="12700"/>
          </a:xfrm>
          <a:prstGeom prst="roundRect">
            <a:avLst>
              <a:gd name="adj" fmla="val 49999"/>
            </a:avLst>
          </a:prstGeom>
          <a:solidFill>
            <a:srgbClr val="3B3535">
              <a:alpha val="50000"/>
            </a:srgbClr>
          </a:solidFill>
          <a:ln/>
        </p:spPr>
      </p:sp>
      <p:sp>
        <p:nvSpPr>
          <p:cNvPr id="41" name="Text 39"/>
          <p:cNvSpPr/>
          <p:nvPr/>
        </p:nvSpPr>
        <p:spPr>
          <a:xfrm>
            <a:off x="631908" y="5799832"/>
            <a:ext cx="11537463" cy="2274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i="1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My ownership: Problem framing · MVP scope · Operating model · Decision rights · AI controls · Requirements · Prototype · Validation plan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3101501" y="6523038"/>
            <a:ext cx="5988595" cy="132755"/>
          </a:xfrm>
          <a:prstGeom prst="rect">
            <a:avLst/>
          </a:prstGeom>
          <a:noFill/>
          <a:ln/>
        </p:spPr>
        <p:txBody>
          <a:bodyPr wrap="none" lIns="0" tIns="49763" rIns="49763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ContinuumOS · Independent portfolio product case · Synthetic data and simulated integrations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31908" y="521395"/>
            <a:ext cx="842941" cy="167977"/>
          </a:xfrm>
          <a:prstGeom prst="roundRect">
            <a:avLst>
              <a:gd name="adj" fmla="val 22120"/>
            </a:avLst>
          </a:prstGeom>
          <a:noFill/>
          <a:ln w="6350">
            <a:solidFill>
              <a:srgbClr val="DA1B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98185" y="554534"/>
            <a:ext cx="1319973" cy="1016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650" dirty="0">
                <a:solidFill>
                  <a:srgbClr val="DA1B2E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THE CORE RULE</a:t>
            </a:r>
            <a:endParaRPr lang="en-US" sz="650" dirty="0"/>
          </a:p>
        </p:txBody>
      </p:sp>
      <p:sp>
        <p:nvSpPr>
          <p:cNvPr id="4" name="Text 2"/>
          <p:cNvSpPr/>
          <p:nvPr/>
        </p:nvSpPr>
        <p:spPr>
          <a:xfrm>
            <a:off x="631908" y="720328"/>
            <a:ext cx="5888982" cy="72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250" dirty="0">
                <a:solidFill>
                  <a:srgbClr val="1F1E1E"/>
                </a:solidFill>
                <a:latin typeface="Sora SemiBold" pitchFamily="34" charset="0"/>
                <a:ea typeface="Sora SemiBold" pitchFamily="34" charset="-122"/>
                <a:cs typeface="Sora SemiBold" pitchFamily="34" charset="-120"/>
              </a:rPr>
              <a:t>No Milestone Is Inferred from a Neighbouring Milestone</a:t>
            </a:r>
            <a:endParaRPr lang="en-US" sz="2250" dirty="0"/>
          </a:p>
        </p:txBody>
      </p:sp>
      <p:sp>
        <p:nvSpPr>
          <p:cNvPr id="5" name="Text 3"/>
          <p:cNvSpPr/>
          <p:nvPr/>
        </p:nvSpPr>
        <p:spPr>
          <a:xfrm>
            <a:off x="631908" y="1525191"/>
            <a:ext cx="6498566" cy="1504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8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 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631908" y="1762621"/>
            <a:ext cx="221153" cy="1382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01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631908" y="1937742"/>
            <a:ext cx="5888982" cy="12700"/>
          </a:xfrm>
          <a:prstGeom prst="rect">
            <a:avLst/>
          </a:prstGeom>
          <a:solidFill>
            <a:srgbClr val="DA1B2E"/>
          </a:solidFill>
          <a:ln/>
        </p:spPr>
      </p:sp>
      <p:sp>
        <p:nvSpPr>
          <p:cNvPr id="8" name="Text 6"/>
          <p:cNvSpPr/>
          <p:nvPr/>
        </p:nvSpPr>
        <p:spPr>
          <a:xfrm>
            <a:off x="631908" y="2018407"/>
            <a:ext cx="5888982" cy="1818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3B3535"/>
                </a:solidFill>
                <a:latin typeface="Sora SemiBold" pitchFamily="34" charset="0"/>
                <a:ea typeface="Sora SemiBold" pitchFamily="34" charset="-122"/>
                <a:cs typeface="Sora SemiBold" pitchFamily="34" charset="-120"/>
              </a:rPr>
              <a:t>Result available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31908" y="2360513"/>
            <a:ext cx="221153" cy="1382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02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631908" y="2535634"/>
            <a:ext cx="5888982" cy="12700"/>
          </a:xfrm>
          <a:prstGeom prst="rect">
            <a:avLst/>
          </a:prstGeom>
          <a:solidFill>
            <a:srgbClr val="DA1B2E"/>
          </a:solidFill>
          <a:ln/>
        </p:spPr>
      </p:sp>
      <p:sp>
        <p:nvSpPr>
          <p:cNvPr id="11" name="Text 9"/>
          <p:cNvSpPr/>
          <p:nvPr/>
        </p:nvSpPr>
        <p:spPr>
          <a:xfrm>
            <a:off x="631908" y="2616299"/>
            <a:ext cx="5888982" cy="1818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3B3535"/>
                </a:solidFill>
                <a:latin typeface="Sora SemiBold" pitchFamily="34" charset="0"/>
                <a:ea typeface="Sora SemiBold" pitchFamily="34" charset="-122"/>
                <a:cs typeface="Sora SemiBold" pitchFamily="34" charset="-120"/>
              </a:rPr>
              <a:t>Clinician acknowledgement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31908" y="2958405"/>
            <a:ext cx="221153" cy="1382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03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631908" y="3133527"/>
            <a:ext cx="5888982" cy="12700"/>
          </a:xfrm>
          <a:prstGeom prst="rect">
            <a:avLst/>
          </a:prstGeom>
          <a:solidFill>
            <a:srgbClr val="DA1B2E"/>
          </a:solidFill>
          <a:ln/>
        </p:spPr>
      </p:sp>
      <p:sp>
        <p:nvSpPr>
          <p:cNvPr id="14" name="Text 12"/>
          <p:cNvSpPr/>
          <p:nvPr/>
        </p:nvSpPr>
        <p:spPr>
          <a:xfrm>
            <a:off x="631908" y="3214191"/>
            <a:ext cx="5888982" cy="1818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3B3535"/>
                </a:solidFill>
                <a:latin typeface="Sora SemiBold" pitchFamily="34" charset="0"/>
                <a:ea typeface="Sora SemiBold" pitchFamily="34" charset="-122"/>
                <a:cs typeface="Sora SemiBold" pitchFamily="34" charset="-120"/>
              </a:rPr>
              <a:t>Human direction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31908" y="3556298"/>
            <a:ext cx="221153" cy="1382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04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631908" y="3731419"/>
            <a:ext cx="5888982" cy="12700"/>
          </a:xfrm>
          <a:prstGeom prst="rect">
            <a:avLst/>
          </a:prstGeom>
          <a:solidFill>
            <a:srgbClr val="DA1B2E"/>
          </a:solidFill>
          <a:ln/>
        </p:spPr>
      </p:sp>
      <p:sp>
        <p:nvSpPr>
          <p:cNvPr id="17" name="Text 15"/>
          <p:cNvSpPr/>
          <p:nvPr/>
        </p:nvSpPr>
        <p:spPr>
          <a:xfrm>
            <a:off x="631908" y="3812084"/>
            <a:ext cx="5888982" cy="1818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3B3535"/>
                </a:solidFill>
                <a:latin typeface="Sora SemiBold" pitchFamily="34" charset="0"/>
                <a:ea typeface="Sora SemiBold" pitchFamily="34" charset="-122"/>
                <a:cs typeface="Sora SemiBold" pitchFamily="34" charset="-120"/>
              </a:rPr>
              <a:t>Handoff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31908" y="4154190"/>
            <a:ext cx="221153" cy="1382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05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631908" y="4329311"/>
            <a:ext cx="5888982" cy="12700"/>
          </a:xfrm>
          <a:prstGeom prst="rect">
            <a:avLst/>
          </a:prstGeom>
          <a:solidFill>
            <a:srgbClr val="DA1B2E"/>
          </a:solidFill>
          <a:ln/>
        </p:spPr>
      </p:sp>
      <p:sp>
        <p:nvSpPr>
          <p:cNvPr id="20" name="Text 18"/>
          <p:cNvSpPr/>
          <p:nvPr/>
        </p:nvSpPr>
        <p:spPr>
          <a:xfrm>
            <a:off x="631908" y="4409976"/>
            <a:ext cx="5888982" cy="1818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3B3535"/>
                </a:solidFill>
                <a:latin typeface="Sora SemiBold" pitchFamily="34" charset="0"/>
                <a:ea typeface="Sora SemiBold" pitchFamily="34" charset="-122"/>
                <a:cs typeface="Sora SemiBold" pitchFamily="34" charset="-120"/>
              </a:rPr>
              <a:t>Receiving response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31908" y="4752082"/>
            <a:ext cx="221153" cy="1382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06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31908" y="4927203"/>
            <a:ext cx="5888982" cy="12700"/>
          </a:xfrm>
          <a:prstGeom prst="rect">
            <a:avLst/>
          </a:prstGeom>
          <a:solidFill>
            <a:srgbClr val="DA1B2E"/>
          </a:solidFill>
          <a:ln/>
        </p:spPr>
      </p:sp>
      <p:sp>
        <p:nvSpPr>
          <p:cNvPr id="23" name="Text 21"/>
          <p:cNvSpPr/>
          <p:nvPr/>
        </p:nvSpPr>
        <p:spPr>
          <a:xfrm>
            <a:off x="631908" y="5007868"/>
            <a:ext cx="5888982" cy="1818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3B3535"/>
                </a:solidFill>
                <a:latin typeface="Sora SemiBold" pitchFamily="34" charset="0"/>
                <a:ea typeface="Sora SemiBold" pitchFamily="34" charset="-122"/>
                <a:cs typeface="Sora SemiBold" pitchFamily="34" charset="-120"/>
              </a:rPr>
              <a:t>Confirmed next step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31908" y="5359598"/>
            <a:ext cx="6498566" cy="1504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8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 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631908" y="5597029"/>
            <a:ext cx="5888982" cy="495300"/>
          </a:xfrm>
          <a:prstGeom prst="roundRect">
            <a:avLst>
              <a:gd name="adj" fmla="val 9377"/>
            </a:avLst>
          </a:prstGeom>
          <a:solidFill>
            <a:srgbClr val="F9D2D6"/>
          </a:solidFill>
          <a:ln/>
        </p:spPr>
      </p:sp>
      <p:pic>
        <p:nvPicPr>
          <p:cNvPr id="2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2435" y="5746353"/>
            <a:ext cx="138208" cy="110530"/>
          </a:xfrm>
          <a:prstGeom prst="rect">
            <a:avLst/>
          </a:prstGeom>
        </p:spPr>
      </p:pic>
      <p:sp>
        <p:nvSpPr>
          <p:cNvPr id="27" name="Text 24"/>
          <p:cNvSpPr/>
          <p:nvPr/>
        </p:nvSpPr>
        <p:spPr>
          <a:xfrm>
            <a:off x="991171" y="5694263"/>
            <a:ext cx="5419193" cy="3008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Source evidence establishes context. Authorised people make decisions. Deterministic rules control state progression.</a:t>
            </a:r>
            <a:endParaRPr lang="en-US" sz="850" dirty="0"/>
          </a:p>
        </p:txBody>
      </p:sp>
      <p:sp>
        <p:nvSpPr>
          <p:cNvPr id="28" name="Shape 25"/>
          <p:cNvSpPr/>
          <p:nvPr/>
        </p:nvSpPr>
        <p:spPr>
          <a:xfrm>
            <a:off x="6717338" y="434380"/>
            <a:ext cx="4928370" cy="5744964"/>
          </a:xfrm>
          <a:prstGeom prst="roundRect">
            <a:avLst>
              <a:gd name="adj" fmla="val 1616"/>
            </a:avLst>
          </a:prstGeom>
          <a:solidFill>
            <a:srgbClr val="FFFFFF"/>
          </a:solidFill>
          <a:ln/>
        </p:spPr>
      </p:sp>
      <p:pic>
        <p:nvPicPr>
          <p:cNvPr id="2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24215" y="1792684"/>
            <a:ext cx="2314616" cy="408980"/>
          </a:xfrm>
          <a:prstGeom prst="rect">
            <a:avLst/>
          </a:prstGeom>
        </p:spPr>
      </p:pic>
      <p:sp>
        <p:nvSpPr>
          <p:cNvPr id="30" name="Text 26"/>
          <p:cNvSpPr/>
          <p:nvPr/>
        </p:nvSpPr>
        <p:spPr>
          <a:xfrm>
            <a:off x="8215801" y="1906191"/>
            <a:ext cx="1931443" cy="1818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Sora SemiBold" pitchFamily="34" charset="0"/>
                <a:ea typeface="Sora SemiBold" pitchFamily="34" charset="-122"/>
                <a:cs typeface="Sora SemiBold" pitchFamily="34" charset="-120"/>
              </a:rPr>
              <a:t>Result available</a:t>
            </a:r>
            <a:endParaRPr lang="en-US" sz="1100" dirty="0"/>
          </a:p>
        </p:txBody>
      </p:sp>
      <p:pic>
        <p:nvPicPr>
          <p:cNvPr id="3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52174" y="2229247"/>
            <a:ext cx="2658698" cy="408980"/>
          </a:xfrm>
          <a:prstGeom prst="rect">
            <a:avLst/>
          </a:prstGeom>
        </p:spPr>
      </p:pic>
      <p:sp>
        <p:nvSpPr>
          <p:cNvPr id="32" name="Text 27"/>
          <p:cNvSpPr/>
          <p:nvPr/>
        </p:nvSpPr>
        <p:spPr>
          <a:xfrm>
            <a:off x="8042868" y="2339777"/>
            <a:ext cx="2277212" cy="187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13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↓ Evidence verified</a:t>
            </a:r>
            <a:endParaRPr lang="en-US" sz="1050" dirty="0"/>
          </a:p>
        </p:txBody>
      </p:sp>
      <p:pic>
        <p:nvPicPr>
          <p:cNvPr id="3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80133" y="2665809"/>
            <a:ext cx="3002780" cy="408980"/>
          </a:xfrm>
          <a:prstGeom prst="rect">
            <a:avLst/>
          </a:prstGeom>
        </p:spPr>
      </p:pic>
      <p:sp>
        <p:nvSpPr>
          <p:cNvPr id="34" name="Text 28"/>
          <p:cNvSpPr/>
          <p:nvPr/>
        </p:nvSpPr>
        <p:spPr>
          <a:xfrm>
            <a:off x="7869934" y="2779316"/>
            <a:ext cx="2623080" cy="1818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Sora SemiBold" pitchFamily="34" charset="0"/>
                <a:ea typeface="Sora SemiBold" pitchFamily="34" charset="-122"/>
                <a:cs typeface="Sora SemiBold" pitchFamily="34" charset="-120"/>
              </a:rPr>
              <a:t>Clinician acknowledgement</a:t>
            </a:r>
            <a:endParaRPr lang="en-US" sz="1100" dirty="0"/>
          </a:p>
        </p:txBody>
      </p:sp>
      <p:pic>
        <p:nvPicPr>
          <p:cNvPr id="3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08092" y="3102372"/>
            <a:ext cx="3346862" cy="408980"/>
          </a:xfrm>
          <a:prstGeom prst="rect">
            <a:avLst/>
          </a:prstGeom>
        </p:spPr>
      </p:pic>
      <p:sp>
        <p:nvSpPr>
          <p:cNvPr id="36" name="Text 29"/>
          <p:cNvSpPr/>
          <p:nvPr/>
        </p:nvSpPr>
        <p:spPr>
          <a:xfrm>
            <a:off x="7697099" y="3212902"/>
            <a:ext cx="2968848" cy="187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13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↓ Human direction recorded</a:t>
            </a:r>
            <a:endParaRPr lang="en-US" sz="1050" dirty="0"/>
          </a:p>
        </p:txBody>
      </p:sp>
      <p:pic>
        <p:nvPicPr>
          <p:cNvPr id="3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36051" y="3538934"/>
            <a:ext cx="3690944" cy="408980"/>
          </a:xfrm>
          <a:prstGeom prst="rect">
            <a:avLst/>
          </a:prstGeom>
        </p:spPr>
      </p:pic>
      <p:sp>
        <p:nvSpPr>
          <p:cNvPr id="38" name="Text 30"/>
          <p:cNvSpPr/>
          <p:nvPr/>
        </p:nvSpPr>
        <p:spPr>
          <a:xfrm>
            <a:off x="7524165" y="3652441"/>
            <a:ext cx="3314716" cy="1818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Sora SemiBold" pitchFamily="34" charset="0"/>
                <a:ea typeface="Sora SemiBold" pitchFamily="34" charset="-122"/>
                <a:cs typeface="Sora SemiBold" pitchFamily="34" charset="-120"/>
              </a:rPr>
              <a:t>Handoff created</a:t>
            </a:r>
            <a:endParaRPr lang="en-US" sz="1100" dirty="0"/>
          </a:p>
        </p:txBody>
      </p:sp>
      <p:pic>
        <p:nvPicPr>
          <p:cNvPr id="39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164010" y="3975497"/>
            <a:ext cx="4035026" cy="408980"/>
          </a:xfrm>
          <a:prstGeom prst="rect">
            <a:avLst/>
          </a:prstGeom>
        </p:spPr>
      </p:pic>
      <p:sp>
        <p:nvSpPr>
          <p:cNvPr id="40" name="Text 31"/>
          <p:cNvSpPr/>
          <p:nvPr/>
        </p:nvSpPr>
        <p:spPr>
          <a:xfrm>
            <a:off x="7351231" y="4086027"/>
            <a:ext cx="3660485" cy="187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13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↓ Receiving evidence recorded</a:t>
            </a:r>
            <a:endParaRPr lang="en-US" sz="1050" dirty="0"/>
          </a:p>
        </p:txBody>
      </p:sp>
      <p:pic>
        <p:nvPicPr>
          <p:cNvPr id="41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991969" y="4412059"/>
            <a:ext cx="4379108" cy="408980"/>
          </a:xfrm>
          <a:prstGeom prst="rect">
            <a:avLst/>
          </a:prstGeom>
        </p:spPr>
      </p:pic>
      <p:sp>
        <p:nvSpPr>
          <p:cNvPr id="42" name="Text 32"/>
          <p:cNvSpPr/>
          <p:nvPr/>
        </p:nvSpPr>
        <p:spPr>
          <a:xfrm>
            <a:off x="7178297" y="4525566"/>
            <a:ext cx="4006353" cy="1818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Sora SemiBold" pitchFamily="34" charset="0"/>
                <a:ea typeface="Sora SemiBold" pitchFamily="34" charset="-122"/>
                <a:cs typeface="Sora SemiBold" pitchFamily="34" charset="-120"/>
              </a:rPr>
              <a:t>Confirmed next step</a:t>
            </a:r>
            <a:endParaRPr lang="en-US" sz="1100" dirty="0"/>
          </a:p>
        </p:txBody>
      </p:sp>
      <p:sp>
        <p:nvSpPr>
          <p:cNvPr id="43" name="Text 33"/>
          <p:cNvSpPr/>
          <p:nvPr/>
        </p:nvSpPr>
        <p:spPr>
          <a:xfrm>
            <a:off x="3101501" y="6523038"/>
            <a:ext cx="5988595" cy="132755"/>
          </a:xfrm>
          <a:prstGeom prst="rect">
            <a:avLst/>
          </a:prstGeom>
          <a:noFill/>
          <a:ln/>
        </p:spPr>
        <p:txBody>
          <a:bodyPr wrap="none" lIns="0" tIns="49763" rIns="49763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ContinuumOS · Independent portfolio product case · Synthetic data and simulated integrations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31908" y="434380"/>
            <a:ext cx="1304297" cy="179983"/>
          </a:xfrm>
          <a:prstGeom prst="roundRect">
            <a:avLst>
              <a:gd name="adj" fmla="val 22119"/>
            </a:avLst>
          </a:prstGeom>
          <a:noFill/>
          <a:ln w="6350">
            <a:solidFill>
              <a:srgbClr val="DA1B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02947" y="469900"/>
            <a:ext cx="1771804" cy="1089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700" dirty="0">
                <a:solidFill>
                  <a:srgbClr val="DA1B2E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SYSTEM ARCHITECTURE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631908" y="649883"/>
            <a:ext cx="10927878" cy="389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450" dirty="0">
                <a:solidFill>
                  <a:srgbClr val="1F1E1E"/>
                </a:solidFill>
                <a:latin typeface="Sora SemiBold" pitchFamily="34" charset="0"/>
                <a:ea typeface="Sora SemiBold" pitchFamily="34" charset="-122"/>
                <a:cs typeface="Sora SemiBold" pitchFamily="34" charset="-120"/>
              </a:rPr>
              <a:t>What ContinuumOS Maintains</a:t>
            </a:r>
            <a:endParaRPr lang="en-US" sz="2450" dirty="0"/>
          </a:p>
        </p:txBody>
      </p:sp>
      <p:sp>
        <p:nvSpPr>
          <p:cNvPr id="5" name="Text 3"/>
          <p:cNvSpPr/>
          <p:nvPr/>
        </p:nvSpPr>
        <p:spPr>
          <a:xfrm>
            <a:off x="631908" y="1172865"/>
            <a:ext cx="11537463" cy="2073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1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Source systems remain authoritative. ContinuumOS maintains the orchestration layer.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631908" y="1480145"/>
            <a:ext cx="10927878" cy="4315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7000"/>
              </a:lnSpc>
              <a:spcAft>
                <a:spcPts val="750"/>
              </a:spcAft>
              <a:buNone/>
            </a:pPr>
            <a:r>
              <a:rPr lang="en-US" sz="9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 </a:t>
            </a:r>
            <a:endParaRPr lang="en-US" sz="900" dirty="0"/>
          </a:p>
          <a:p>
            <a:pPr algn="l" indent="0" marL="0">
              <a:lnSpc>
                <a:spcPct val="117000"/>
              </a:lnSpc>
              <a:buNone/>
            </a:pPr>
            <a:r>
              <a:rPr lang="en-US" sz="900" b="1" dirty="0">
                <a:solidFill>
                  <a:srgbClr val="3B3535"/>
                </a:solidFill>
                <a:latin typeface="Sora Bold" pitchFamily="34" charset="0"/>
                <a:ea typeface="Sora Bold" pitchFamily="34" charset="-122"/>
                <a:cs typeface="Sora Bold" pitchFamily="34" charset="-120"/>
              </a:rPr>
              <a:t>AUTHORITATIVE SOURCE SYSTEMS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631908" y="2011561"/>
            <a:ext cx="2665346" cy="717748"/>
          </a:xfrm>
          <a:prstGeom prst="roundRect">
            <a:avLst>
              <a:gd name="adj" fmla="val 6933"/>
            </a:avLst>
          </a:prstGeom>
          <a:solidFill>
            <a:srgbClr val="FFFFFF"/>
          </a:solidFill>
          <a:ln w="12700">
            <a:solidFill>
              <a:srgbClr val="DFB8B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63072" y="2142728"/>
            <a:ext cx="2403018" cy="1947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3B3535"/>
                </a:solidFill>
                <a:latin typeface="Sora SemiBold" pitchFamily="34" charset="0"/>
                <a:ea typeface="Sora SemiBold" pitchFamily="34" charset="-122"/>
                <a:cs typeface="Sora SemiBold" pitchFamily="34" charset="-120"/>
              </a:rPr>
              <a:t>EHR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63072" y="2390775"/>
            <a:ext cx="2403018" cy="2073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1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Patient · Encounter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386053" y="2011561"/>
            <a:ext cx="2665346" cy="717748"/>
          </a:xfrm>
          <a:prstGeom prst="roundRect">
            <a:avLst>
              <a:gd name="adj" fmla="val 6933"/>
            </a:avLst>
          </a:prstGeom>
          <a:solidFill>
            <a:srgbClr val="FFFFFF"/>
          </a:solidFill>
          <a:ln w="12700">
            <a:solidFill>
              <a:srgbClr val="DFB8B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17217" y="2142728"/>
            <a:ext cx="2403018" cy="1947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3B3535"/>
                </a:solidFill>
                <a:latin typeface="Sora SemiBold" pitchFamily="34" charset="0"/>
                <a:ea typeface="Sora SemiBold" pitchFamily="34" charset="-122"/>
                <a:cs typeface="Sora SemiBold" pitchFamily="34" charset="-120"/>
              </a:rPr>
              <a:t>Diagnostics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517217" y="2390775"/>
            <a:ext cx="2403018" cy="2073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1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Orders · Results · Reports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140197" y="2011561"/>
            <a:ext cx="2665346" cy="717748"/>
          </a:xfrm>
          <a:prstGeom prst="roundRect">
            <a:avLst>
              <a:gd name="adj" fmla="val 6933"/>
            </a:avLst>
          </a:prstGeom>
          <a:solidFill>
            <a:srgbClr val="FFFFFF"/>
          </a:solidFill>
          <a:ln w="12700">
            <a:solidFill>
              <a:srgbClr val="DFB8B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71361" y="2142728"/>
            <a:ext cx="2403018" cy="1947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3B3535"/>
                </a:solidFill>
                <a:latin typeface="Sora SemiBold" pitchFamily="34" charset="0"/>
                <a:ea typeface="Sora SemiBold" pitchFamily="34" charset="-122"/>
                <a:cs typeface="Sora SemiBold" pitchFamily="34" charset="-120"/>
              </a:rPr>
              <a:t>Referral System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271361" y="2390775"/>
            <a:ext cx="2403018" cy="2073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1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Referral · Receiving response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8894342" y="2011561"/>
            <a:ext cx="2665445" cy="717748"/>
          </a:xfrm>
          <a:prstGeom prst="roundRect">
            <a:avLst>
              <a:gd name="adj" fmla="val 6933"/>
            </a:avLst>
          </a:prstGeom>
          <a:solidFill>
            <a:srgbClr val="FFFFFF"/>
          </a:solidFill>
          <a:ln w="12700">
            <a:solidFill>
              <a:srgbClr val="DFB8B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025505" y="2142728"/>
            <a:ext cx="2403117" cy="1947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3B3535"/>
                </a:solidFill>
                <a:latin typeface="Sora SemiBold" pitchFamily="34" charset="0"/>
                <a:ea typeface="Sora SemiBold" pitchFamily="34" charset="-122"/>
                <a:cs typeface="Sora SemiBold" pitchFamily="34" charset="-120"/>
              </a:rPr>
              <a:t>Communication System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9025505" y="2390775"/>
            <a:ext cx="2403117" cy="2073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1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Messages · Delivery evidence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327116" y="2829223"/>
            <a:ext cx="11537463" cy="2073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17000"/>
              </a:lnSpc>
              <a:buNone/>
            </a:pPr>
            <a:r>
              <a:rPr lang="en-US" sz="1150" dirty="0">
                <a:solidFill>
                  <a:srgbClr val="4A9D9C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↓ Authorised source reads and references ↓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631908" y="3136503"/>
            <a:ext cx="11537463" cy="1657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900" b="1" dirty="0">
                <a:solidFill>
                  <a:srgbClr val="3B3535"/>
                </a:solidFill>
                <a:latin typeface="Sora Bold" pitchFamily="34" charset="0"/>
                <a:ea typeface="Sora Bold" pitchFamily="34" charset="-122"/>
                <a:cs typeface="Sora Bold" pitchFamily="34" charset="-120"/>
              </a:rPr>
              <a:t>CONTINUUMOS ORCHESTRATION LAYER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631908" y="3402211"/>
            <a:ext cx="10927878" cy="1480046"/>
          </a:xfrm>
          <a:prstGeom prst="roundRect">
            <a:avLst>
              <a:gd name="adj" fmla="val 3362"/>
            </a:avLst>
          </a:prstGeom>
          <a:solidFill>
            <a:srgbClr val="F9D2D6"/>
          </a:solidFill>
          <a:ln w="6350">
            <a:solidFill>
              <a:srgbClr val="DFB8B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38258" y="3408561"/>
            <a:ext cx="2728745" cy="816570"/>
          </a:xfrm>
          <a:custGeom>
            <a:avLst/>
            <a:gdLst/>
            <a:ahLst/>
            <a:cxnLst/>
            <a:rect l="l" t="t" r="r" b="b"/>
            <a:pathLst>
              <a:path w="2728745" h="816570">
                <a:moveTo>
                  <a:pt x="41469" y="0"/>
                </a:moveTo>
                <a:lnTo>
                  <a:pt x="2728745" y="0"/>
                </a:lnTo>
                <a:lnTo>
                  <a:pt x="2728745" y="816570"/>
                </a:lnTo>
                <a:lnTo>
                  <a:pt x="0" y="816570"/>
                </a:lnTo>
                <a:lnTo>
                  <a:pt x="0" y="41471"/>
                </a:lnTo>
                <a:arcTo hR="41471" wR="41469" stAng="10800000" swAng="5400000"/>
                <a:close/>
              </a:path>
            </a:pathLst>
          </a:custGeom>
          <a:solidFill>
            <a:srgbClr val="1A2744"/>
          </a:solidFill>
          <a:ln/>
        </p:spPr>
      </p:sp>
      <p:sp>
        <p:nvSpPr>
          <p:cNvPr id="23" name="Text 21"/>
          <p:cNvSpPr/>
          <p:nvPr/>
        </p:nvSpPr>
        <p:spPr>
          <a:xfrm>
            <a:off x="756722" y="3527028"/>
            <a:ext cx="2491817" cy="1947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Sora SemiBold" pitchFamily="34" charset="0"/>
                <a:ea typeface="Sora SemiBold" pitchFamily="34" charset="-122"/>
                <a:cs typeface="Sora SemiBold" pitchFamily="34" charset="-120"/>
              </a:rPr>
              <a:t>Episode State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756722" y="3775075"/>
            <a:ext cx="2491817" cy="1657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Current position in pathway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3367003" y="3408561"/>
            <a:ext cx="2728844" cy="81657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26" name="Shape 24"/>
          <p:cNvSpPr/>
          <p:nvPr/>
        </p:nvSpPr>
        <p:spPr>
          <a:xfrm>
            <a:off x="3367003" y="3408561"/>
            <a:ext cx="12700" cy="816570"/>
          </a:xfrm>
          <a:prstGeom prst="roundRect">
            <a:avLst>
              <a:gd name="adj" fmla="val 49999"/>
            </a:avLst>
          </a:prstGeom>
          <a:solidFill>
            <a:srgbClr val="33405D"/>
          </a:solidFill>
          <a:ln/>
        </p:spPr>
      </p:sp>
      <p:sp>
        <p:nvSpPr>
          <p:cNvPr id="27" name="Text 25"/>
          <p:cNvSpPr/>
          <p:nvPr/>
        </p:nvSpPr>
        <p:spPr>
          <a:xfrm>
            <a:off x="3485467" y="3527028"/>
            <a:ext cx="2491916" cy="1947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Sora SemiBold" pitchFamily="34" charset="0"/>
                <a:ea typeface="Sora SemiBold" pitchFamily="34" charset="-122"/>
                <a:cs typeface="Sora SemiBold" pitchFamily="34" charset="-120"/>
              </a:rPr>
              <a:t>Accountable Owner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3485467" y="3775075"/>
            <a:ext cx="2491916" cy="331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Assigned role responsible for the next action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6095848" y="3408561"/>
            <a:ext cx="2728745" cy="81657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30" name="Shape 28"/>
          <p:cNvSpPr/>
          <p:nvPr/>
        </p:nvSpPr>
        <p:spPr>
          <a:xfrm>
            <a:off x="6095848" y="3408561"/>
            <a:ext cx="12700" cy="816570"/>
          </a:xfrm>
          <a:prstGeom prst="roundRect">
            <a:avLst>
              <a:gd name="adj" fmla="val 49999"/>
            </a:avLst>
          </a:prstGeom>
          <a:solidFill>
            <a:srgbClr val="33405D"/>
          </a:solidFill>
          <a:ln/>
        </p:spPr>
      </p:sp>
      <p:sp>
        <p:nvSpPr>
          <p:cNvPr id="31" name="Text 29"/>
          <p:cNvSpPr/>
          <p:nvPr/>
        </p:nvSpPr>
        <p:spPr>
          <a:xfrm>
            <a:off x="6214312" y="3527028"/>
            <a:ext cx="2491817" cy="1947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Sora SemiBold" pitchFamily="34" charset="0"/>
                <a:ea typeface="Sora SemiBold" pitchFamily="34" charset="-122"/>
                <a:cs typeface="Sora SemiBold" pitchFamily="34" charset="-120"/>
              </a:rPr>
              <a:t>Internal Tasks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6214312" y="3775075"/>
            <a:ext cx="2491817" cy="1657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Attributed workflow actions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8824593" y="3408561"/>
            <a:ext cx="2728844" cy="816570"/>
          </a:xfrm>
          <a:custGeom>
            <a:avLst/>
            <a:gdLst/>
            <a:ahLst/>
            <a:cxnLst/>
            <a:rect l="l" t="t" r="r" b="b"/>
            <a:pathLst>
              <a:path w="2728844" h="816570">
                <a:moveTo>
                  <a:pt x="0" y="0"/>
                </a:moveTo>
                <a:lnTo>
                  <a:pt x="2687375" y="0"/>
                </a:lnTo>
                <a:arcTo hR="41471" wR="41469" stAng="16200000" swAng="5400000"/>
                <a:lnTo>
                  <a:pt x="2728844" y="816570"/>
                </a:lnTo>
                <a:lnTo>
                  <a:pt x="0" y="816570"/>
                </a:lnTo>
                <a:lnTo>
                  <a:pt x="0" y="0"/>
                </a:lnTo>
                <a:close/>
              </a:path>
            </a:pathLst>
          </a:custGeom>
          <a:solidFill>
            <a:srgbClr val="B45309"/>
          </a:solidFill>
          <a:ln/>
        </p:spPr>
      </p:sp>
      <p:sp>
        <p:nvSpPr>
          <p:cNvPr id="34" name="Shape 32"/>
          <p:cNvSpPr/>
          <p:nvPr/>
        </p:nvSpPr>
        <p:spPr>
          <a:xfrm>
            <a:off x="8824593" y="3408561"/>
            <a:ext cx="12700" cy="816570"/>
          </a:xfrm>
          <a:prstGeom prst="roundRect">
            <a:avLst>
              <a:gd name="adj" fmla="val 49999"/>
            </a:avLst>
          </a:prstGeom>
          <a:solidFill>
            <a:srgbClr val="CD6C22"/>
          </a:solidFill>
          <a:ln/>
        </p:spPr>
      </p:sp>
      <p:sp>
        <p:nvSpPr>
          <p:cNvPr id="35" name="Text 33"/>
          <p:cNvSpPr/>
          <p:nvPr/>
        </p:nvSpPr>
        <p:spPr>
          <a:xfrm>
            <a:off x="8943057" y="3527028"/>
            <a:ext cx="2491916" cy="1947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Sora SemiBold" pitchFamily="34" charset="0"/>
                <a:ea typeface="Sora SemiBold" pitchFamily="34" charset="-122"/>
                <a:cs typeface="Sora SemiBold" pitchFamily="34" charset="-120"/>
              </a:rPr>
              <a:t>Exceptions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8943057" y="3775075"/>
            <a:ext cx="2491916" cy="1657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Flags, gaps and escalations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638258" y="4225131"/>
            <a:ext cx="5457589" cy="650776"/>
          </a:xfrm>
          <a:custGeom>
            <a:avLst/>
            <a:gdLst/>
            <a:ahLst/>
            <a:cxnLst/>
            <a:rect l="l" t="t" r="r" b="b"/>
            <a:pathLst>
              <a:path w="5457589" h="650776">
                <a:moveTo>
                  <a:pt x="0" y="0"/>
                </a:moveTo>
                <a:lnTo>
                  <a:pt x="5457589" y="0"/>
                </a:lnTo>
                <a:lnTo>
                  <a:pt x="5457589" y="650776"/>
                </a:lnTo>
                <a:lnTo>
                  <a:pt x="41469" y="650776"/>
                </a:lnTo>
                <a:arcTo hR="41471" wR="41469" stAng="5400000" swAng="5400000"/>
                <a:lnTo>
                  <a:pt x="0" y="0"/>
                </a:lnTo>
                <a:close/>
              </a:path>
            </a:pathLst>
          </a:custGeom>
          <a:solidFill>
            <a:srgbClr val="1A2744"/>
          </a:solidFill>
          <a:ln/>
        </p:spPr>
      </p:sp>
      <p:sp>
        <p:nvSpPr>
          <p:cNvPr id="38" name="Shape 36"/>
          <p:cNvSpPr/>
          <p:nvPr/>
        </p:nvSpPr>
        <p:spPr>
          <a:xfrm>
            <a:off x="638258" y="4225131"/>
            <a:ext cx="5457589" cy="12700"/>
          </a:xfrm>
          <a:prstGeom prst="roundRect">
            <a:avLst>
              <a:gd name="adj" fmla="val 49999"/>
            </a:avLst>
          </a:prstGeom>
          <a:solidFill>
            <a:srgbClr val="33405D"/>
          </a:solidFill>
          <a:ln/>
        </p:spPr>
      </p:sp>
      <p:sp>
        <p:nvSpPr>
          <p:cNvPr id="39" name="Text 37"/>
          <p:cNvSpPr/>
          <p:nvPr/>
        </p:nvSpPr>
        <p:spPr>
          <a:xfrm>
            <a:off x="756722" y="4343598"/>
            <a:ext cx="5220661" cy="1947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Sora SemiBold" pitchFamily="34" charset="0"/>
                <a:ea typeface="Sora SemiBold" pitchFamily="34" charset="-122"/>
                <a:cs typeface="Sora SemiBold" pitchFamily="34" charset="-120"/>
              </a:rPr>
              <a:t>Source References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756722" y="4591645"/>
            <a:ext cx="5220661" cy="1657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Pointers to authoritative records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6095848" y="4225131"/>
            <a:ext cx="5457589" cy="650776"/>
          </a:xfrm>
          <a:custGeom>
            <a:avLst/>
            <a:gdLst/>
            <a:ahLst/>
            <a:cxnLst/>
            <a:rect l="l" t="t" r="r" b="b"/>
            <a:pathLst>
              <a:path w="5457589" h="650776">
                <a:moveTo>
                  <a:pt x="0" y="0"/>
                </a:moveTo>
                <a:lnTo>
                  <a:pt x="5457589" y="0"/>
                </a:lnTo>
                <a:lnTo>
                  <a:pt x="5457589" y="609305"/>
                </a:lnTo>
                <a:arcTo hR="41471" wR="41469" stAng="0" swAng="5400000"/>
                <a:lnTo>
                  <a:pt x="0" y="650776"/>
                </a:lnTo>
                <a:lnTo>
                  <a:pt x="0" y="0"/>
                </a:lnTo>
                <a:close/>
              </a:path>
            </a:pathLst>
          </a:custGeom>
          <a:solidFill>
            <a:srgbClr val="1A2744"/>
          </a:solidFill>
          <a:ln/>
        </p:spPr>
      </p:sp>
      <p:sp>
        <p:nvSpPr>
          <p:cNvPr id="42" name="Shape 40"/>
          <p:cNvSpPr/>
          <p:nvPr/>
        </p:nvSpPr>
        <p:spPr>
          <a:xfrm>
            <a:off x="6095848" y="4225131"/>
            <a:ext cx="12700" cy="650776"/>
          </a:xfrm>
          <a:prstGeom prst="roundRect">
            <a:avLst>
              <a:gd name="adj" fmla="val 49999"/>
            </a:avLst>
          </a:prstGeom>
          <a:solidFill>
            <a:srgbClr val="33405D"/>
          </a:solidFill>
          <a:ln/>
        </p:spPr>
      </p:sp>
      <p:sp>
        <p:nvSpPr>
          <p:cNvPr id="43" name="Shape 41"/>
          <p:cNvSpPr/>
          <p:nvPr/>
        </p:nvSpPr>
        <p:spPr>
          <a:xfrm>
            <a:off x="6095848" y="4225131"/>
            <a:ext cx="5457589" cy="12700"/>
          </a:xfrm>
          <a:prstGeom prst="roundRect">
            <a:avLst>
              <a:gd name="adj" fmla="val 49999"/>
            </a:avLst>
          </a:prstGeom>
          <a:solidFill>
            <a:srgbClr val="33405D"/>
          </a:solidFill>
          <a:ln/>
        </p:spPr>
      </p:sp>
      <p:sp>
        <p:nvSpPr>
          <p:cNvPr id="44" name="Text 42"/>
          <p:cNvSpPr/>
          <p:nvPr/>
        </p:nvSpPr>
        <p:spPr>
          <a:xfrm>
            <a:off x="6214312" y="4343598"/>
            <a:ext cx="5220661" cy="1947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Sora SemiBold" pitchFamily="34" charset="0"/>
                <a:ea typeface="Sora SemiBold" pitchFamily="34" charset="-122"/>
                <a:cs typeface="Sora SemiBold" pitchFamily="34" charset="-120"/>
              </a:rPr>
              <a:t>Orchestration Audit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6214312" y="4591645"/>
            <a:ext cx="5220661" cy="1657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Full auditable activity log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631908" y="4982170"/>
            <a:ext cx="11537463" cy="2073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150" i="1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Internal workflow actions are recorded here. Clinical source records remain authoritative.</a:t>
            </a:r>
            <a:endParaRPr lang="en-US" sz="1150" dirty="0"/>
          </a:p>
        </p:txBody>
      </p:sp>
      <p:sp>
        <p:nvSpPr>
          <p:cNvPr id="47" name="Text 45"/>
          <p:cNvSpPr/>
          <p:nvPr/>
        </p:nvSpPr>
        <p:spPr>
          <a:xfrm>
            <a:off x="631908" y="5289451"/>
            <a:ext cx="11537463" cy="1657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9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 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809605" y="5655072"/>
            <a:ext cx="11359767" cy="2073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1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ContinuumOS does not recreate the clinical record. It makes cross-system work visible, owned and recoverable.</a:t>
            </a:r>
            <a:endParaRPr lang="en-US" sz="1150" dirty="0"/>
          </a:p>
        </p:txBody>
      </p:sp>
      <p:sp>
        <p:nvSpPr>
          <p:cNvPr id="49" name="Shape 47"/>
          <p:cNvSpPr/>
          <p:nvPr/>
        </p:nvSpPr>
        <p:spPr>
          <a:xfrm>
            <a:off x="631908" y="5555159"/>
            <a:ext cx="12700" cy="407194"/>
          </a:xfrm>
          <a:prstGeom prst="roundRect">
            <a:avLst>
              <a:gd name="adj" fmla="val 49999"/>
            </a:avLst>
          </a:prstGeom>
          <a:solidFill>
            <a:srgbClr val="DA1B2E"/>
          </a:solidFill>
          <a:ln/>
        </p:spPr>
      </p:sp>
      <p:sp>
        <p:nvSpPr>
          <p:cNvPr id="50" name="Text 48"/>
          <p:cNvSpPr/>
          <p:nvPr/>
        </p:nvSpPr>
        <p:spPr>
          <a:xfrm>
            <a:off x="3101501" y="6523038"/>
            <a:ext cx="5988595" cy="132755"/>
          </a:xfrm>
          <a:prstGeom prst="rect">
            <a:avLst/>
          </a:prstGeom>
          <a:noFill/>
          <a:ln/>
        </p:spPr>
        <p:txBody>
          <a:bodyPr wrap="none" lIns="0" tIns="49763" rIns="49763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ContinuumOS · Independent portfolio product case · Synthetic data and simulated integrations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31908" y="434380"/>
            <a:ext cx="1546186" cy="146248"/>
          </a:xfrm>
          <a:prstGeom prst="roundRect">
            <a:avLst>
              <a:gd name="adj" fmla="val 22117"/>
            </a:avLst>
          </a:prstGeom>
          <a:noFill/>
          <a:ln w="6350">
            <a:solidFill>
              <a:srgbClr val="DA1B2E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689652" y="463252"/>
            <a:ext cx="2040283" cy="885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600" dirty="0">
                <a:solidFill>
                  <a:srgbClr val="DA1B2E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SAFETY AS PRODUCT REQUIREMENT</a:t>
            </a:r>
            <a:endParaRPr lang="en-US" sz="600" dirty="0"/>
          </a:p>
        </p:txBody>
      </p:sp>
      <p:sp>
        <p:nvSpPr>
          <p:cNvPr id="5" name="Text 2"/>
          <p:cNvSpPr/>
          <p:nvPr/>
        </p:nvSpPr>
        <p:spPr>
          <a:xfrm>
            <a:off x="631908" y="604044"/>
            <a:ext cx="6355993" cy="3166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950" dirty="0">
                <a:solidFill>
                  <a:srgbClr val="1F1E1E"/>
                </a:solidFill>
                <a:latin typeface="Sora SemiBold" pitchFamily="34" charset="0"/>
                <a:ea typeface="Sora SemiBold" pitchFamily="34" charset="-122"/>
                <a:cs typeface="Sora SemiBold" pitchFamily="34" charset="-120"/>
              </a:rPr>
              <a:t>Safety changes the workflow</a:t>
            </a:r>
            <a:endParaRPr lang="en-US" sz="1950" dirty="0"/>
          </a:p>
        </p:txBody>
      </p:sp>
      <p:sp>
        <p:nvSpPr>
          <p:cNvPr id="6" name="Text 3"/>
          <p:cNvSpPr/>
          <p:nvPr/>
        </p:nvSpPr>
        <p:spPr>
          <a:xfrm>
            <a:off x="631908" y="1008559"/>
            <a:ext cx="6355993" cy="3097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9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A critical failure mode: stale evidence drives downstream work. </a:t>
            </a:r>
            <a:pPr algn="l" indent="0" marL="0">
              <a:lnSpc>
                <a:spcPct val="107000"/>
              </a:lnSpc>
              <a:buNone/>
            </a:pPr>
            <a:r>
              <a:rPr lang="en-US" sz="900" i="1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Example: an amended report arrives after acknowledgement.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631908" y="1384300"/>
            <a:ext cx="6965577" cy="1238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7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 </a:t>
            </a:r>
            <a:endParaRPr lang="en-US" sz="750" dirty="0"/>
          </a:p>
        </p:txBody>
      </p:sp>
      <p:sp>
        <p:nvSpPr>
          <p:cNvPr id="8" name="Shape 5"/>
          <p:cNvSpPr/>
          <p:nvPr/>
        </p:nvSpPr>
        <p:spPr>
          <a:xfrm>
            <a:off x="631908" y="1574105"/>
            <a:ext cx="6355993" cy="1761629"/>
          </a:xfrm>
          <a:prstGeom prst="roundRect">
            <a:avLst>
              <a:gd name="adj" fmla="val 2295"/>
            </a:avLst>
          </a:prstGeom>
          <a:solidFill>
            <a:srgbClr val="F9D2D6"/>
          </a:solidFill>
          <a:ln w="6350">
            <a:solidFill>
              <a:srgbClr val="DFB8BC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638258" y="1580455"/>
            <a:ext cx="6343293" cy="553641"/>
          </a:xfrm>
          <a:custGeom>
            <a:avLst/>
            <a:gdLst/>
            <a:ahLst/>
            <a:cxnLst/>
            <a:rect l="l" t="t" r="r" b="b"/>
            <a:pathLst>
              <a:path w="6343293" h="553641">
                <a:moveTo>
                  <a:pt x="33694" y="0"/>
                </a:moveTo>
                <a:lnTo>
                  <a:pt x="6309599" y="0"/>
                </a:lnTo>
                <a:arcTo hR="33695" wR="33694" stAng="16200000" swAng="5400000"/>
                <a:lnTo>
                  <a:pt x="6343293" y="553641"/>
                </a:lnTo>
                <a:lnTo>
                  <a:pt x="0" y="553641"/>
                </a:lnTo>
                <a:lnTo>
                  <a:pt x="0" y="33695"/>
                </a:lnTo>
                <a:arcTo hR="33695" wR="33694" stAng="10800000" swAng="5400000"/>
                <a:close/>
              </a:path>
            </a:pathLst>
          </a:custGeom>
          <a:solidFill>
            <a:srgbClr val="F9D2D6"/>
          </a:solidFill>
          <a:ln/>
        </p:spPr>
      </p:sp>
      <p:sp>
        <p:nvSpPr>
          <p:cNvPr id="10" name="Text 7"/>
          <p:cNvSpPr/>
          <p:nvPr/>
        </p:nvSpPr>
        <p:spPr>
          <a:xfrm>
            <a:off x="696895" y="1639094"/>
            <a:ext cx="6226019" cy="1583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3B3535"/>
                </a:solidFill>
                <a:latin typeface="Sora SemiBold" pitchFamily="34" charset="0"/>
                <a:ea typeface="Sora SemiBold" pitchFamily="34" charset="-122"/>
                <a:cs typeface="Sora SemiBold" pitchFamily="34" charset="-120"/>
              </a:rPr>
              <a:t>Prevent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696895" y="1832570"/>
            <a:ext cx="6226019" cy="154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9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Bind acknowledgement to report version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638258" y="2134096"/>
            <a:ext cx="6343293" cy="641648"/>
          </a:xfrm>
          <a:prstGeom prst="rect">
            <a:avLst/>
          </a:prstGeom>
          <a:solidFill>
            <a:srgbClr val="F9D2D6"/>
          </a:solidFill>
          <a:ln/>
        </p:spPr>
      </p:sp>
      <p:sp>
        <p:nvSpPr>
          <p:cNvPr id="13" name="Shape 10"/>
          <p:cNvSpPr/>
          <p:nvPr/>
        </p:nvSpPr>
        <p:spPr>
          <a:xfrm>
            <a:off x="638258" y="2134096"/>
            <a:ext cx="6343293" cy="12700"/>
          </a:xfrm>
          <a:prstGeom prst="roundRect">
            <a:avLst>
              <a:gd name="adj" fmla="val 49999"/>
            </a:avLst>
          </a:prstGeom>
          <a:solidFill>
            <a:srgbClr val="DFB8BC"/>
          </a:solidFill>
          <a:ln/>
        </p:spPr>
      </p:sp>
      <p:sp>
        <p:nvSpPr>
          <p:cNvPr id="14" name="Shape 11"/>
          <p:cNvSpPr/>
          <p:nvPr/>
        </p:nvSpPr>
        <p:spPr>
          <a:xfrm>
            <a:off x="3689555" y="2020143"/>
            <a:ext cx="240599" cy="240605"/>
          </a:xfrm>
          <a:prstGeom prst="roundRect">
            <a:avLst>
              <a:gd name="adj" fmla="val 16805"/>
            </a:avLst>
          </a:prstGeom>
          <a:solidFill>
            <a:srgbClr val="FFFFFF"/>
          </a:solidFill>
          <a:ln w="12700">
            <a:solidFill>
              <a:srgbClr val="DFB8BC"/>
            </a:solidFill>
            <a:prstDash val="solid"/>
          </a:ln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749680" y="2080270"/>
            <a:ext cx="120250" cy="120253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696895" y="2280741"/>
            <a:ext cx="6226019" cy="1583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3B3535"/>
                </a:solidFill>
                <a:latin typeface="Sora SemiBold" pitchFamily="34" charset="0"/>
                <a:ea typeface="Sora SemiBold" pitchFamily="34" charset="-122"/>
                <a:cs typeface="Sora SemiBold" pitchFamily="34" charset="-120"/>
              </a:rPr>
              <a:t>Detect</a:t>
            </a:r>
            <a:endParaRPr lang="en-US" sz="950" dirty="0"/>
          </a:p>
        </p:txBody>
      </p:sp>
      <p:sp>
        <p:nvSpPr>
          <p:cNvPr id="17" name="Text 13"/>
          <p:cNvSpPr/>
          <p:nvPr/>
        </p:nvSpPr>
        <p:spPr>
          <a:xfrm>
            <a:off x="696895" y="2474218"/>
            <a:ext cx="6226019" cy="154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9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Mark dependent work as stale</a:t>
            </a:r>
            <a:endParaRPr lang="en-US" sz="900" dirty="0"/>
          </a:p>
        </p:txBody>
      </p:sp>
      <p:sp>
        <p:nvSpPr>
          <p:cNvPr id="18" name="Shape 14"/>
          <p:cNvSpPr/>
          <p:nvPr/>
        </p:nvSpPr>
        <p:spPr>
          <a:xfrm>
            <a:off x="638258" y="2775744"/>
            <a:ext cx="6343293" cy="553641"/>
          </a:xfrm>
          <a:custGeom>
            <a:avLst/>
            <a:gdLst/>
            <a:ahLst/>
            <a:cxnLst/>
            <a:rect l="l" t="t" r="r" b="b"/>
            <a:pathLst>
              <a:path w="6343293" h="553641">
                <a:moveTo>
                  <a:pt x="0" y="0"/>
                </a:moveTo>
                <a:lnTo>
                  <a:pt x="6343293" y="0"/>
                </a:lnTo>
                <a:lnTo>
                  <a:pt x="6343293" y="519946"/>
                </a:lnTo>
                <a:arcTo hR="33695" wR="33694" stAng="0" swAng="5400000"/>
                <a:lnTo>
                  <a:pt x="33694" y="553641"/>
                </a:lnTo>
                <a:arcTo hR="33695" wR="33694" stAng="5400000" swAng="5400000"/>
                <a:lnTo>
                  <a:pt x="0" y="0"/>
                </a:lnTo>
                <a:close/>
              </a:path>
            </a:pathLst>
          </a:custGeom>
          <a:solidFill>
            <a:srgbClr val="F9D2D6"/>
          </a:solidFill>
          <a:ln/>
        </p:spPr>
      </p:sp>
      <p:sp>
        <p:nvSpPr>
          <p:cNvPr id="19" name="Shape 15"/>
          <p:cNvSpPr/>
          <p:nvPr/>
        </p:nvSpPr>
        <p:spPr>
          <a:xfrm>
            <a:off x="638258" y="2775744"/>
            <a:ext cx="6343293" cy="12700"/>
          </a:xfrm>
          <a:prstGeom prst="roundRect">
            <a:avLst>
              <a:gd name="adj" fmla="val 49999"/>
            </a:avLst>
          </a:prstGeom>
          <a:solidFill>
            <a:srgbClr val="DFB8BC"/>
          </a:solidFill>
          <a:ln/>
        </p:spPr>
      </p:sp>
      <p:sp>
        <p:nvSpPr>
          <p:cNvPr id="20" name="Shape 16"/>
          <p:cNvSpPr/>
          <p:nvPr/>
        </p:nvSpPr>
        <p:spPr>
          <a:xfrm>
            <a:off x="3689555" y="2661791"/>
            <a:ext cx="240599" cy="240605"/>
          </a:xfrm>
          <a:prstGeom prst="roundRect">
            <a:avLst>
              <a:gd name="adj" fmla="val 16805"/>
            </a:avLst>
          </a:prstGeom>
          <a:solidFill>
            <a:srgbClr val="FFFFFF"/>
          </a:solidFill>
          <a:ln w="12700">
            <a:solidFill>
              <a:srgbClr val="DFB8BC"/>
            </a:solidFill>
            <a:prstDash val="solid"/>
          </a:ln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749680" y="2721918"/>
            <a:ext cx="120250" cy="120253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696895" y="2922389"/>
            <a:ext cx="6226019" cy="1583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3B3535"/>
                </a:solidFill>
                <a:latin typeface="Sora SemiBold" pitchFamily="34" charset="0"/>
                <a:ea typeface="Sora SemiBold" pitchFamily="34" charset="-122"/>
                <a:cs typeface="Sora SemiBold" pitchFamily="34" charset="-120"/>
              </a:rPr>
              <a:t>Recover</a:t>
            </a:r>
            <a:endParaRPr lang="en-US" sz="950" dirty="0"/>
          </a:p>
        </p:txBody>
      </p:sp>
      <p:sp>
        <p:nvSpPr>
          <p:cNvPr id="23" name="Text 18"/>
          <p:cNvSpPr/>
          <p:nvPr/>
        </p:nvSpPr>
        <p:spPr>
          <a:xfrm>
            <a:off x="696895" y="3115866"/>
            <a:ext cx="6226019" cy="154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9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Preserve history and require reassessment</a:t>
            </a:r>
            <a:endParaRPr lang="en-US" sz="900" dirty="0"/>
          </a:p>
        </p:txBody>
      </p:sp>
      <p:sp>
        <p:nvSpPr>
          <p:cNvPr id="24" name="Text 19"/>
          <p:cNvSpPr/>
          <p:nvPr/>
        </p:nvSpPr>
        <p:spPr>
          <a:xfrm>
            <a:off x="631908" y="3401715"/>
            <a:ext cx="6965577" cy="1238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7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 </a:t>
            </a:r>
            <a:endParaRPr lang="en-US" sz="750" dirty="0"/>
          </a:p>
        </p:txBody>
      </p:sp>
      <p:sp>
        <p:nvSpPr>
          <p:cNvPr id="25" name="Text 20"/>
          <p:cNvSpPr/>
          <p:nvPr/>
        </p:nvSpPr>
        <p:spPr>
          <a:xfrm>
            <a:off x="776268" y="3657501"/>
            <a:ext cx="6821218" cy="154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9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The earlier acknowledgement remains valid historical evidence, not approval for the amended version.</a:t>
            </a:r>
            <a:endParaRPr lang="en-US" sz="900" dirty="0"/>
          </a:p>
        </p:txBody>
      </p:sp>
      <p:sp>
        <p:nvSpPr>
          <p:cNvPr id="26" name="Shape 21"/>
          <p:cNvSpPr/>
          <p:nvPr/>
        </p:nvSpPr>
        <p:spPr>
          <a:xfrm>
            <a:off x="631908" y="3591520"/>
            <a:ext cx="12700" cy="286841"/>
          </a:xfrm>
          <a:prstGeom prst="roundRect">
            <a:avLst>
              <a:gd name="adj" fmla="val 49999"/>
            </a:avLst>
          </a:prstGeom>
          <a:solidFill>
            <a:srgbClr val="DA1B2E"/>
          </a:solidFill>
          <a:ln/>
        </p:spPr>
      </p:sp>
      <p:sp>
        <p:nvSpPr>
          <p:cNvPr id="27" name="Text 22"/>
          <p:cNvSpPr/>
          <p:nvPr/>
        </p:nvSpPr>
        <p:spPr>
          <a:xfrm>
            <a:off x="631908" y="3944342"/>
            <a:ext cx="6965577" cy="1238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7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 </a:t>
            </a:r>
            <a:endParaRPr lang="en-US" sz="750" dirty="0"/>
          </a:p>
        </p:txBody>
      </p:sp>
      <p:sp>
        <p:nvSpPr>
          <p:cNvPr id="28" name="Text 23"/>
          <p:cNvSpPr/>
          <p:nvPr/>
        </p:nvSpPr>
        <p:spPr>
          <a:xfrm>
            <a:off x="776268" y="4252913"/>
            <a:ext cx="2586667" cy="464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9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The accepted cost is more visible review and reconciliation. The alternative is silent risk.</a:t>
            </a:r>
            <a:endParaRPr lang="en-US" sz="900" dirty="0"/>
          </a:p>
        </p:txBody>
      </p:sp>
      <p:sp>
        <p:nvSpPr>
          <p:cNvPr id="29" name="Shape 24"/>
          <p:cNvSpPr/>
          <p:nvPr/>
        </p:nvSpPr>
        <p:spPr>
          <a:xfrm>
            <a:off x="631908" y="4200128"/>
            <a:ext cx="12700" cy="570210"/>
          </a:xfrm>
          <a:prstGeom prst="roundRect">
            <a:avLst>
              <a:gd name="adj" fmla="val 49999"/>
            </a:avLst>
          </a:prstGeom>
          <a:solidFill>
            <a:srgbClr val="DA1B2E"/>
          </a:solidFill>
          <a:ln/>
        </p:spPr>
      </p:sp>
      <p:sp>
        <p:nvSpPr>
          <p:cNvPr id="30" name="Shape 25"/>
          <p:cNvSpPr/>
          <p:nvPr/>
        </p:nvSpPr>
        <p:spPr>
          <a:xfrm>
            <a:off x="3604031" y="4200128"/>
            <a:ext cx="96240" cy="577552"/>
          </a:xfrm>
          <a:prstGeom prst="roundRect">
            <a:avLst>
              <a:gd name="adj" fmla="val 42012"/>
            </a:avLst>
          </a:prstGeom>
          <a:solidFill>
            <a:srgbClr val="F9D2D6"/>
          </a:solidFill>
          <a:ln w="6350">
            <a:solidFill>
              <a:srgbClr val="DFB8BC"/>
            </a:solidFill>
            <a:prstDash val="solid"/>
          </a:ln>
        </p:spPr>
      </p:sp>
      <p:sp>
        <p:nvSpPr>
          <p:cNvPr id="31" name="Text 26"/>
          <p:cNvSpPr/>
          <p:nvPr/>
        </p:nvSpPr>
        <p:spPr>
          <a:xfrm>
            <a:off x="3758908" y="4296370"/>
            <a:ext cx="3235244" cy="1583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3B3535"/>
                </a:solidFill>
                <a:latin typeface="Sora SemiBold" pitchFamily="34" charset="0"/>
                <a:ea typeface="Sora SemiBold" pitchFamily="34" charset="-122"/>
                <a:cs typeface="Sora SemiBold" pitchFamily="34" charset="-120"/>
              </a:rPr>
              <a:t>Report v1 Acknowledged</a:t>
            </a:r>
            <a:endParaRPr lang="en-US" sz="950" dirty="0"/>
          </a:p>
        </p:txBody>
      </p:sp>
      <p:sp>
        <p:nvSpPr>
          <p:cNvPr id="32" name="Text 27"/>
          <p:cNvSpPr/>
          <p:nvPr/>
        </p:nvSpPr>
        <p:spPr>
          <a:xfrm>
            <a:off x="3758908" y="4513362"/>
            <a:ext cx="3235244" cy="154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9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Review recorded against report v1</a:t>
            </a:r>
            <a:endParaRPr lang="en-US" sz="900" dirty="0"/>
          </a:p>
        </p:txBody>
      </p:sp>
      <p:sp>
        <p:nvSpPr>
          <p:cNvPr id="33" name="Shape 28"/>
          <p:cNvSpPr/>
          <p:nvPr/>
        </p:nvSpPr>
        <p:spPr>
          <a:xfrm>
            <a:off x="3748391" y="4836319"/>
            <a:ext cx="96240" cy="577552"/>
          </a:xfrm>
          <a:prstGeom prst="roundRect">
            <a:avLst>
              <a:gd name="adj" fmla="val 42012"/>
            </a:avLst>
          </a:prstGeom>
          <a:solidFill>
            <a:srgbClr val="F9D2D6"/>
          </a:solidFill>
          <a:ln w="6350">
            <a:solidFill>
              <a:srgbClr val="DFB8BC"/>
            </a:solidFill>
            <a:prstDash val="solid"/>
          </a:ln>
        </p:spPr>
      </p:sp>
      <p:sp>
        <p:nvSpPr>
          <p:cNvPr id="34" name="Text 29"/>
          <p:cNvSpPr/>
          <p:nvPr/>
        </p:nvSpPr>
        <p:spPr>
          <a:xfrm>
            <a:off x="3903267" y="4932561"/>
            <a:ext cx="3090884" cy="1583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3B3535"/>
                </a:solidFill>
                <a:latin typeface="Sora SemiBold" pitchFamily="34" charset="0"/>
                <a:ea typeface="Sora SemiBold" pitchFamily="34" charset="-122"/>
                <a:cs typeface="Sora SemiBold" pitchFamily="34" charset="-120"/>
              </a:rPr>
              <a:t>Report v2 Amended</a:t>
            </a:r>
            <a:endParaRPr lang="en-US" sz="950" dirty="0"/>
          </a:p>
        </p:txBody>
      </p:sp>
      <p:sp>
        <p:nvSpPr>
          <p:cNvPr id="35" name="Text 30"/>
          <p:cNvSpPr/>
          <p:nvPr/>
        </p:nvSpPr>
        <p:spPr>
          <a:xfrm>
            <a:off x="3903267" y="5149552"/>
            <a:ext cx="3090884" cy="154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9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Updated findings issued</a:t>
            </a:r>
            <a:endParaRPr lang="en-US" sz="900" dirty="0"/>
          </a:p>
        </p:txBody>
      </p:sp>
      <p:sp>
        <p:nvSpPr>
          <p:cNvPr id="36" name="Shape 31"/>
          <p:cNvSpPr/>
          <p:nvPr/>
        </p:nvSpPr>
        <p:spPr>
          <a:xfrm>
            <a:off x="3892750" y="5472509"/>
            <a:ext cx="96240" cy="577552"/>
          </a:xfrm>
          <a:prstGeom prst="roundRect">
            <a:avLst>
              <a:gd name="adj" fmla="val 42012"/>
            </a:avLst>
          </a:prstGeom>
          <a:solidFill>
            <a:srgbClr val="F9D2D6"/>
          </a:solidFill>
          <a:ln w="6350">
            <a:solidFill>
              <a:srgbClr val="DFB8BC"/>
            </a:solidFill>
            <a:prstDash val="solid"/>
          </a:ln>
        </p:spPr>
      </p:sp>
      <p:sp>
        <p:nvSpPr>
          <p:cNvPr id="37" name="Text 32"/>
          <p:cNvSpPr/>
          <p:nvPr/>
        </p:nvSpPr>
        <p:spPr>
          <a:xfrm>
            <a:off x="4047627" y="5568752"/>
            <a:ext cx="2946525" cy="1583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3B3535"/>
                </a:solidFill>
                <a:latin typeface="Sora SemiBold" pitchFamily="34" charset="0"/>
                <a:ea typeface="Sora SemiBold" pitchFamily="34" charset="-122"/>
                <a:cs typeface="Sora SemiBold" pitchFamily="34" charset="-120"/>
              </a:rPr>
              <a:t>Reassessment Required</a:t>
            </a:r>
            <a:endParaRPr lang="en-US" sz="950" dirty="0"/>
          </a:p>
        </p:txBody>
      </p:sp>
      <p:sp>
        <p:nvSpPr>
          <p:cNvPr id="38" name="Text 33"/>
          <p:cNvSpPr/>
          <p:nvPr/>
        </p:nvSpPr>
        <p:spPr>
          <a:xfrm>
            <a:off x="4047627" y="5785743"/>
            <a:ext cx="2946525" cy="154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9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Require reassessment against v2</a:t>
            </a:r>
            <a:endParaRPr lang="en-US" sz="900" dirty="0"/>
          </a:p>
        </p:txBody>
      </p:sp>
      <p:sp>
        <p:nvSpPr>
          <p:cNvPr id="39" name="Text 34"/>
          <p:cNvSpPr/>
          <p:nvPr/>
        </p:nvSpPr>
        <p:spPr>
          <a:xfrm>
            <a:off x="1487550" y="6523038"/>
            <a:ext cx="6021733" cy="132755"/>
          </a:xfrm>
          <a:prstGeom prst="rect">
            <a:avLst/>
          </a:prstGeom>
          <a:noFill/>
          <a:ln/>
        </p:spPr>
        <p:txBody>
          <a:bodyPr wrap="none" lIns="0" tIns="49763" rIns="82939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ContinuumOS · Independent portfolio product case · Synthetic data and simulated integrations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203794" y="434380"/>
            <a:ext cx="863578" cy="167977"/>
          </a:xfrm>
          <a:prstGeom prst="roundRect">
            <a:avLst>
              <a:gd name="adj" fmla="val 22120"/>
            </a:avLst>
          </a:prstGeom>
          <a:noFill/>
          <a:ln w="6350">
            <a:solidFill>
              <a:srgbClr val="DA1B2E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5270071" y="467519"/>
            <a:ext cx="1340610" cy="1016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650" dirty="0">
                <a:solidFill>
                  <a:srgbClr val="DA1B2E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AI BOUNDARIES</a:t>
            </a:r>
            <a:endParaRPr lang="en-US" sz="650" dirty="0"/>
          </a:p>
        </p:txBody>
      </p:sp>
      <p:sp>
        <p:nvSpPr>
          <p:cNvPr id="5" name="Text 2"/>
          <p:cNvSpPr/>
          <p:nvPr/>
        </p:nvSpPr>
        <p:spPr>
          <a:xfrm>
            <a:off x="5203794" y="633313"/>
            <a:ext cx="6355993" cy="3637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250" dirty="0">
                <a:solidFill>
                  <a:srgbClr val="1F1E1E"/>
                </a:solidFill>
                <a:latin typeface="Sora SemiBold" pitchFamily="34" charset="0"/>
                <a:ea typeface="Sora SemiBold" pitchFamily="34" charset="-122"/>
                <a:cs typeface="Sora SemiBold" pitchFamily="34" charset="-120"/>
              </a:rPr>
              <a:t>AI Has a Narrow, Useful Job</a:t>
            </a:r>
            <a:endParaRPr lang="en-US" sz="2250" dirty="0"/>
          </a:p>
        </p:txBody>
      </p:sp>
      <p:sp>
        <p:nvSpPr>
          <p:cNvPr id="6" name="Text 3"/>
          <p:cNvSpPr/>
          <p:nvPr/>
        </p:nvSpPr>
        <p:spPr>
          <a:xfrm>
            <a:off x="5203794" y="1113135"/>
            <a:ext cx="6965577" cy="187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050" b="1" dirty="0">
                <a:solidFill>
                  <a:srgbClr val="3B3535"/>
                </a:solidFill>
                <a:latin typeface="Sora Bold" pitchFamily="34" charset="0"/>
                <a:ea typeface="Sora Bold" pitchFamily="34" charset="-122"/>
                <a:cs typeface="Sora Bold" pitchFamily="34" charset="-120"/>
              </a:rPr>
              <a:t>AI assists work. It does not make decisions.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5203794" y="1388070"/>
            <a:ext cx="6965577" cy="1504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8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 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5203794" y="1702891"/>
            <a:ext cx="3043161" cy="1818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1F1E1E"/>
                </a:solidFill>
                <a:latin typeface="Sora SemiBold" pitchFamily="34" charset="0"/>
                <a:ea typeface="Sora SemiBold" pitchFamily="34" charset="-122"/>
                <a:cs typeface="Sora SemiBold" pitchFamily="34" charset="-120"/>
              </a:rPr>
              <a:t>Approved assists</a:t>
            </a:r>
            <a:endParaRPr lang="en-US" sz="11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245266" y="1975197"/>
            <a:ext cx="165790" cy="165795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563056" y="1971774"/>
            <a:ext cx="2683899" cy="1818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3B3535"/>
                </a:solidFill>
                <a:latin typeface="Sora SemiBold" pitchFamily="34" charset="0"/>
                <a:ea typeface="Sora SemiBold" pitchFamily="34" charset="-122"/>
                <a:cs typeface="Sora SemiBold" pitchFamily="34" charset="-120"/>
              </a:rPr>
              <a:t>Source-linked episode summary</a:t>
            </a:r>
            <a:endParaRPr lang="en-US" sz="1100" dirty="0"/>
          </a:p>
        </p:txBody>
      </p:sp>
      <p:sp>
        <p:nvSpPr>
          <p:cNvPr id="11" name="Text 7"/>
          <p:cNvSpPr/>
          <p:nvPr/>
        </p:nvSpPr>
        <p:spPr>
          <a:xfrm>
            <a:off x="5563056" y="2231033"/>
            <a:ext cx="2683899" cy="3758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0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Orientation to verified clinical and workflow context</a:t>
            </a:r>
            <a:endParaRPr lang="en-US" sz="1050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245266" y="2765078"/>
            <a:ext cx="165790" cy="165795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5563056" y="2761655"/>
            <a:ext cx="2683899" cy="3637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3B3535"/>
                </a:solidFill>
                <a:latin typeface="Sora SemiBold" pitchFamily="34" charset="0"/>
                <a:ea typeface="Sora SemiBold" pitchFamily="34" charset="-122"/>
                <a:cs typeface="Sora SemiBold" pitchFamily="34" charset="-120"/>
              </a:rPr>
              <a:t>Post-approval referral-handoff draft</a:t>
            </a:r>
            <a:endParaRPr lang="en-US" sz="1100" dirty="0"/>
          </a:p>
        </p:txBody>
      </p:sp>
      <p:sp>
        <p:nvSpPr>
          <p:cNvPr id="14" name="Text 9"/>
          <p:cNvSpPr/>
          <p:nvPr/>
        </p:nvSpPr>
        <p:spPr>
          <a:xfrm>
            <a:off x="5563056" y="3202781"/>
            <a:ext cx="2683899" cy="3758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0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Operational preparation after human direction</a:t>
            </a:r>
            <a:endParaRPr lang="en-US" sz="1050" dirty="0"/>
          </a:p>
        </p:txBody>
      </p:sp>
      <p:sp>
        <p:nvSpPr>
          <p:cNvPr id="15" name="Text 10"/>
          <p:cNvSpPr/>
          <p:nvPr/>
        </p:nvSpPr>
        <p:spPr>
          <a:xfrm>
            <a:off x="8522975" y="1702891"/>
            <a:ext cx="3043161" cy="1818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1F1E1E"/>
                </a:solidFill>
                <a:latin typeface="Sora SemiBold" pitchFamily="34" charset="0"/>
                <a:ea typeface="Sora SemiBold" pitchFamily="34" charset="-122"/>
                <a:cs typeface="Sora SemiBold" pitchFamily="34" charset="-120"/>
              </a:rPr>
              <a:t>AI cannot</a:t>
            </a:r>
            <a:endParaRPr lang="en-US" sz="1100" dirty="0"/>
          </a:p>
        </p:txBody>
      </p:sp>
      <p:sp>
        <p:nvSpPr>
          <p:cNvPr id="16" name="Text 11"/>
          <p:cNvSpPr/>
          <p:nvPr/>
        </p:nvSpPr>
        <p:spPr>
          <a:xfrm>
            <a:off x="8522975" y="1962150"/>
            <a:ext cx="3043161" cy="12629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72720" indent="-172720">
              <a:lnSpc>
                <a:spcPct val="113000"/>
              </a:lnSpc>
              <a:buSzPct val="100000"/>
              <a:buChar char="•"/>
            </a:pPr>
            <a:r>
              <a:rPr lang="en-US" sz="8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Diagnose or determine urgency</a:t>
            </a:r>
            <a:endParaRPr lang="en-US" sz="850" dirty="0"/>
          </a:p>
          <a:p>
            <a:pPr algn="l" marL="172720" indent="-172720">
              <a:lnSpc>
                <a:spcPct val="113000"/>
              </a:lnSpc>
              <a:buSzPct val="100000"/>
              <a:buChar char="•"/>
            </a:pPr>
            <a:r>
              <a:rPr lang="en-US" sz="8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Acknowledge a result</a:t>
            </a:r>
            <a:endParaRPr lang="en-US" sz="850" dirty="0"/>
          </a:p>
          <a:p>
            <a:pPr algn="l" marL="172720" indent="-172720">
              <a:lnSpc>
                <a:spcPct val="113000"/>
              </a:lnSpc>
              <a:buSzPct val="100000"/>
              <a:buChar char="•"/>
            </a:pPr>
            <a:r>
              <a:rPr lang="en-US" sz="8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Choose a care pathway</a:t>
            </a:r>
            <a:endParaRPr lang="en-US" sz="850" dirty="0"/>
          </a:p>
          <a:p>
            <a:pPr algn="l" marL="172720" indent="-172720">
              <a:lnSpc>
                <a:spcPct val="113000"/>
              </a:lnSpc>
              <a:buSzPct val="100000"/>
              <a:buChar char="•"/>
            </a:pPr>
            <a:r>
              <a:rPr lang="en-US" sz="8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Independently send a referral</a:t>
            </a:r>
            <a:endParaRPr lang="en-US" sz="850" dirty="0"/>
          </a:p>
          <a:p>
            <a:pPr algn="l" marL="172720" indent="-172720">
              <a:lnSpc>
                <a:spcPct val="113000"/>
              </a:lnSpc>
              <a:buSzPct val="100000"/>
              <a:buChar char="•"/>
            </a:pPr>
            <a:r>
              <a:rPr lang="en-US" sz="8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Accept a referral</a:t>
            </a:r>
            <a:endParaRPr lang="en-US" sz="850" dirty="0"/>
          </a:p>
          <a:p>
            <a:pPr algn="l" marL="172720" indent="-172720">
              <a:lnSpc>
                <a:spcPct val="113000"/>
              </a:lnSpc>
              <a:buSzPct val="100000"/>
              <a:buChar char="•"/>
            </a:pPr>
            <a:r>
              <a:rPr lang="en-US" sz="8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Confirm closure</a:t>
            </a:r>
            <a:endParaRPr lang="en-US" sz="850" dirty="0"/>
          </a:p>
        </p:txBody>
      </p:sp>
      <p:sp>
        <p:nvSpPr>
          <p:cNvPr id="17" name="Text 12"/>
          <p:cNvSpPr/>
          <p:nvPr/>
        </p:nvSpPr>
        <p:spPr>
          <a:xfrm>
            <a:off x="5203794" y="3752652"/>
            <a:ext cx="6965577" cy="1504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8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 </a:t>
            </a:r>
            <a:endParaRPr lang="en-US" sz="850" dirty="0"/>
          </a:p>
        </p:txBody>
      </p:sp>
      <p:sp>
        <p:nvSpPr>
          <p:cNvPr id="18" name="Shape 13"/>
          <p:cNvSpPr/>
          <p:nvPr/>
        </p:nvSpPr>
        <p:spPr>
          <a:xfrm>
            <a:off x="5203794" y="4685506"/>
            <a:ext cx="6355993" cy="12700"/>
          </a:xfrm>
          <a:prstGeom prst="roundRect">
            <a:avLst>
              <a:gd name="adj" fmla="val 49999"/>
            </a:avLst>
          </a:prstGeom>
          <a:solidFill>
            <a:srgbClr val="DFB8BC"/>
          </a:solidFill>
          <a:ln/>
        </p:spPr>
      </p:sp>
      <p:sp>
        <p:nvSpPr>
          <p:cNvPr id="19" name="Shape 14"/>
          <p:cNvSpPr/>
          <p:nvPr/>
        </p:nvSpPr>
        <p:spPr>
          <a:xfrm>
            <a:off x="6224531" y="4464397"/>
            <a:ext cx="12700" cy="221159"/>
          </a:xfrm>
          <a:prstGeom prst="roundRect">
            <a:avLst>
              <a:gd name="adj" fmla="val 49999"/>
            </a:avLst>
          </a:prstGeom>
          <a:solidFill>
            <a:srgbClr val="DFB8BC"/>
          </a:solidFill>
          <a:ln/>
        </p:spPr>
      </p:sp>
      <p:sp>
        <p:nvSpPr>
          <p:cNvPr id="20" name="Shape 15"/>
          <p:cNvSpPr/>
          <p:nvPr/>
        </p:nvSpPr>
        <p:spPr>
          <a:xfrm>
            <a:off x="6189458" y="4644033"/>
            <a:ext cx="82846" cy="82848"/>
          </a:xfrm>
          <a:prstGeom prst="ellipse">
            <a:avLst/>
          </a:prstGeom>
          <a:solidFill>
            <a:srgbClr val="DA1B2E"/>
          </a:solidFill>
          <a:ln/>
        </p:spPr>
      </p:sp>
      <p:sp>
        <p:nvSpPr>
          <p:cNvPr id="21" name="Text 16"/>
          <p:cNvSpPr/>
          <p:nvPr/>
        </p:nvSpPr>
        <p:spPr>
          <a:xfrm>
            <a:off x="5314321" y="3990082"/>
            <a:ext cx="1833120" cy="1818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3B3535"/>
                </a:solidFill>
                <a:latin typeface="Sora SemiBold" pitchFamily="34" charset="0"/>
                <a:ea typeface="Sora SemiBold" pitchFamily="34" charset="-122"/>
                <a:cs typeface="Sora SemiBold" pitchFamily="34" charset="-120"/>
              </a:rPr>
              <a:t>Approved evidence</a:t>
            </a:r>
            <a:endParaRPr lang="en-US" sz="1100" dirty="0"/>
          </a:p>
        </p:txBody>
      </p:sp>
      <p:sp>
        <p:nvSpPr>
          <p:cNvPr id="22" name="Shape 17"/>
          <p:cNvSpPr/>
          <p:nvPr/>
        </p:nvSpPr>
        <p:spPr>
          <a:xfrm>
            <a:off x="7299936" y="4685457"/>
            <a:ext cx="12700" cy="221159"/>
          </a:xfrm>
          <a:prstGeom prst="roundRect">
            <a:avLst>
              <a:gd name="adj" fmla="val 49999"/>
            </a:avLst>
          </a:prstGeom>
          <a:solidFill>
            <a:srgbClr val="DFB8BC"/>
          </a:solidFill>
          <a:ln/>
        </p:spPr>
      </p:sp>
      <p:sp>
        <p:nvSpPr>
          <p:cNvPr id="23" name="Shape 18"/>
          <p:cNvSpPr/>
          <p:nvPr/>
        </p:nvSpPr>
        <p:spPr>
          <a:xfrm>
            <a:off x="7264863" y="4644033"/>
            <a:ext cx="82846" cy="82848"/>
          </a:xfrm>
          <a:prstGeom prst="ellipse">
            <a:avLst/>
          </a:prstGeom>
          <a:solidFill>
            <a:srgbClr val="DA1B2E"/>
          </a:solidFill>
          <a:ln/>
        </p:spPr>
      </p:sp>
      <p:sp>
        <p:nvSpPr>
          <p:cNvPr id="24" name="Text 19"/>
          <p:cNvSpPr/>
          <p:nvPr/>
        </p:nvSpPr>
        <p:spPr>
          <a:xfrm>
            <a:off x="6389726" y="5017195"/>
            <a:ext cx="1833120" cy="1818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3B3535"/>
                </a:solidFill>
                <a:latin typeface="Sora SemiBold" pitchFamily="34" charset="0"/>
                <a:ea typeface="Sora SemiBold" pitchFamily="34" charset="-122"/>
                <a:cs typeface="Sora SemiBold" pitchFamily="34" charset="-120"/>
              </a:rPr>
              <a:t>Source-linked draft</a:t>
            </a:r>
            <a:endParaRPr lang="en-US" sz="1100" dirty="0"/>
          </a:p>
        </p:txBody>
      </p:sp>
      <p:sp>
        <p:nvSpPr>
          <p:cNvPr id="25" name="Shape 20"/>
          <p:cNvSpPr/>
          <p:nvPr/>
        </p:nvSpPr>
        <p:spPr>
          <a:xfrm>
            <a:off x="8375440" y="4464397"/>
            <a:ext cx="12700" cy="221159"/>
          </a:xfrm>
          <a:prstGeom prst="roundRect">
            <a:avLst>
              <a:gd name="adj" fmla="val 49999"/>
            </a:avLst>
          </a:prstGeom>
          <a:solidFill>
            <a:srgbClr val="DFB8BC"/>
          </a:solidFill>
          <a:ln/>
        </p:spPr>
      </p:sp>
      <p:sp>
        <p:nvSpPr>
          <p:cNvPr id="26" name="Shape 21"/>
          <p:cNvSpPr/>
          <p:nvPr/>
        </p:nvSpPr>
        <p:spPr>
          <a:xfrm>
            <a:off x="8340368" y="4644033"/>
            <a:ext cx="82846" cy="82848"/>
          </a:xfrm>
          <a:prstGeom prst="ellipse">
            <a:avLst/>
          </a:prstGeom>
          <a:solidFill>
            <a:srgbClr val="DA1B2E"/>
          </a:solidFill>
          <a:ln/>
        </p:spPr>
      </p:sp>
      <p:sp>
        <p:nvSpPr>
          <p:cNvPr id="27" name="Text 22"/>
          <p:cNvSpPr/>
          <p:nvPr/>
        </p:nvSpPr>
        <p:spPr>
          <a:xfrm>
            <a:off x="7465230" y="3990082"/>
            <a:ext cx="1833120" cy="1818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3B3535"/>
                </a:solidFill>
                <a:latin typeface="Sora SemiBold" pitchFamily="34" charset="0"/>
                <a:ea typeface="Sora SemiBold" pitchFamily="34" charset="-122"/>
                <a:cs typeface="Sora SemiBold" pitchFamily="34" charset="-120"/>
              </a:rPr>
              <a:t>Human disposition</a:t>
            </a:r>
            <a:endParaRPr lang="en-US" sz="1100" dirty="0"/>
          </a:p>
        </p:txBody>
      </p:sp>
      <p:sp>
        <p:nvSpPr>
          <p:cNvPr id="28" name="Shape 23"/>
          <p:cNvSpPr/>
          <p:nvPr/>
        </p:nvSpPr>
        <p:spPr>
          <a:xfrm>
            <a:off x="9450846" y="4685457"/>
            <a:ext cx="12700" cy="221159"/>
          </a:xfrm>
          <a:prstGeom prst="roundRect">
            <a:avLst>
              <a:gd name="adj" fmla="val 49999"/>
            </a:avLst>
          </a:prstGeom>
          <a:solidFill>
            <a:srgbClr val="DFB8BC"/>
          </a:solidFill>
          <a:ln/>
        </p:spPr>
      </p:sp>
      <p:sp>
        <p:nvSpPr>
          <p:cNvPr id="29" name="Shape 24"/>
          <p:cNvSpPr/>
          <p:nvPr/>
        </p:nvSpPr>
        <p:spPr>
          <a:xfrm>
            <a:off x="9415773" y="4644033"/>
            <a:ext cx="82846" cy="82848"/>
          </a:xfrm>
          <a:prstGeom prst="ellipse">
            <a:avLst/>
          </a:prstGeom>
          <a:solidFill>
            <a:srgbClr val="DA1B2E"/>
          </a:solidFill>
          <a:ln/>
        </p:spPr>
      </p:sp>
      <p:sp>
        <p:nvSpPr>
          <p:cNvPr id="30" name="Text 25"/>
          <p:cNvSpPr/>
          <p:nvPr/>
        </p:nvSpPr>
        <p:spPr>
          <a:xfrm>
            <a:off x="8540636" y="5017195"/>
            <a:ext cx="1833120" cy="1818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3B3535"/>
                </a:solidFill>
                <a:latin typeface="Sora SemiBold" pitchFamily="34" charset="0"/>
                <a:ea typeface="Sora SemiBold" pitchFamily="34" charset="-122"/>
                <a:cs typeface="Sora SemiBold" pitchFamily="34" charset="-120"/>
              </a:rPr>
              <a:t>Attributed final action</a:t>
            </a:r>
            <a:endParaRPr lang="en-US" sz="1100" dirty="0"/>
          </a:p>
        </p:txBody>
      </p:sp>
      <p:sp>
        <p:nvSpPr>
          <p:cNvPr id="31" name="Shape 26"/>
          <p:cNvSpPr/>
          <p:nvPr/>
        </p:nvSpPr>
        <p:spPr>
          <a:xfrm>
            <a:off x="10526350" y="4464397"/>
            <a:ext cx="12700" cy="221159"/>
          </a:xfrm>
          <a:prstGeom prst="roundRect">
            <a:avLst>
              <a:gd name="adj" fmla="val 49999"/>
            </a:avLst>
          </a:prstGeom>
          <a:solidFill>
            <a:srgbClr val="DFB8BC"/>
          </a:solidFill>
          <a:ln/>
        </p:spPr>
      </p:sp>
      <p:sp>
        <p:nvSpPr>
          <p:cNvPr id="32" name="Shape 27"/>
          <p:cNvSpPr/>
          <p:nvPr/>
        </p:nvSpPr>
        <p:spPr>
          <a:xfrm>
            <a:off x="10491277" y="4644033"/>
            <a:ext cx="82846" cy="82848"/>
          </a:xfrm>
          <a:prstGeom prst="ellipse">
            <a:avLst/>
          </a:prstGeom>
          <a:solidFill>
            <a:srgbClr val="DA1B2E"/>
          </a:solidFill>
          <a:ln/>
        </p:spPr>
      </p:sp>
      <p:sp>
        <p:nvSpPr>
          <p:cNvPr id="33" name="Text 28"/>
          <p:cNvSpPr/>
          <p:nvPr/>
        </p:nvSpPr>
        <p:spPr>
          <a:xfrm>
            <a:off x="9616140" y="3990082"/>
            <a:ext cx="1833120" cy="3637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3B3535"/>
                </a:solidFill>
                <a:latin typeface="Sora SemiBold" pitchFamily="34" charset="0"/>
                <a:ea typeface="Sora SemiBold" pitchFamily="34" charset="-122"/>
                <a:cs typeface="Sora SemiBold" pitchFamily="34" charset="-120"/>
              </a:rPr>
              <a:t>Correction captured for evaluation</a:t>
            </a:r>
            <a:endParaRPr lang="en-US" sz="1100" dirty="0"/>
          </a:p>
        </p:txBody>
      </p:sp>
      <p:sp>
        <p:nvSpPr>
          <p:cNvPr id="34" name="Text 29"/>
          <p:cNvSpPr/>
          <p:nvPr/>
        </p:nvSpPr>
        <p:spPr>
          <a:xfrm>
            <a:off x="5203794" y="5286077"/>
            <a:ext cx="6965577" cy="1504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8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 </a:t>
            </a:r>
            <a:endParaRPr lang="en-US" sz="850" dirty="0"/>
          </a:p>
        </p:txBody>
      </p:sp>
      <p:sp>
        <p:nvSpPr>
          <p:cNvPr id="35" name="Shape 30"/>
          <p:cNvSpPr/>
          <p:nvPr/>
        </p:nvSpPr>
        <p:spPr>
          <a:xfrm>
            <a:off x="5203794" y="5523508"/>
            <a:ext cx="871416" cy="167977"/>
          </a:xfrm>
          <a:prstGeom prst="roundRect">
            <a:avLst>
              <a:gd name="adj" fmla="val 22120"/>
            </a:avLst>
          </a:prstGeom>
          <a:solidFill>
            <a:srgbClr val="F9D2D6"/>
          </a:solidFill>
          <a:ln/>
        </p:spPr>
      </p:sp>
      <p:sp>
        <p:nvSpPr>
          <p:cNvPr id="36" name="Text 31"/>
          <p:cNvSpPr/>
          <p:nvPr/>
        </p:nvSpPr>
        <p:spPr>
          <a:xfrm>
            <a:off x="5270071" y="5556647"/>
            <a:ext cx="1348448" cy="1016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6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COMPLETENESS</a:t>
            </a:r>
            <a:endParaRPr lang="en-US" sz="650" dirty="0"/>
          </a:p>
        </p:txBody>
      </p:sp>
      <p:sp>
        <p:nvSpPr>
          <p:cNvPr id="37" name="Shape 32"/>
          <p:cNvSpPr/>
          <p:nvPr/>
        </p:nvSpPr>
        <p:spPr>
          <a:xfrm>
            <a:off x="6130474" y="5523508"/>
            <a:ext cx="930153" cy="167977"/>
          </a:xfrm>
          <a:prstGeom prst="roundRect">
            <a:avLst>
              <a:gd name="adj" fmla="val 22120"/>
            </a:avLst>
          </a:prstGeom>
          <a:solidFill>
            <a:srgbClr val="F9D2D6"/>
          </a:solidFill>
          <a:ln/>
        </p:spPr>
      </p:sp>
      <p:sp>
        <p:nvSpPr>
          <p:cNvPr id="38" name="Text 33"/>
          <p:cNvSpPr/>
          <p:nvPr/>
        </p:nvSpPr>
        <p:spPr>
          <a:xfrm>
            <a:off x="6196750" y="5556647"/>
            <a:ext cx="1407184" cy="1016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6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SOURCE FIDELITY</a:t>
            </a:r>
            <a:endParaRPr lang="en-US" sz="650" dirty="0"/>
          </a:p>
        </p:txBody>
      </p:sp>
      <p:sp>
        <p:nvSpPr>
          <p:cNvPr id="39" name="Shape 34"/>
          <p:cNvSpPr/>
          <p:nvPr/>
        </p:nvSpPr>
        <p:spPr>
          <a:xfrm>
            <a:off x="7115890" y="5523508"/>
            <a:ext cx="1305289" cy="167977"/>
          </a:xfrm>
          <a:prstGeom prst="roundRect">
            <a:avLst>
              <a:gd name="adj" fmla="val 22120"/>
            </a:avLst>
          </a:prstGeom>
          <a:solidFill>
            <a:srgbClr val="F9D2D6"/>
          </a:solidFill>
          <a:ln/>
        </p:spPr>
      </p:sp>
      <p:sp>
        <p:nvSpPr>
          <p:cNvPr id="40" name="Text 35"/>
          <p:cNvSpPr/>
          <p:nvPr/>
        </p:nvSpPr>
        <p:spPr>
          <a:xfrm>
            <a:off x="7182166" y="5556647"/>
            <a:ext cx="1782321" cy="1016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6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UNSUPPORTED CONTENT</a:t>
            </a:r>
            <a:endParaRPr lang="en-US" sz="650" dirty="0"/>
          </a:p>
        </p:txBody>
      </p:sp>
      <p:sp>
        <p:nvSpPr>
          <p:cNvPr id="41" name="Shape 36"/>
          <p:cNvSpPr/>
          <p:nvPr/>
        </p:nvSpPr>
        <p:spPr>
          <a:xfrm>
            <a:off x="8476443" y="5523508"/>
            <a:ext cx="1114199" cy="167977"/>
          </a:xfrm>
          <a:prstGeom prst="roundRect">
            <a:avLst>
              <a:gd name="adj" fmla="val 22120"/>
            </a:avLst>
          </a:prstGeom>
          <a:solidFill>
            <a:srgbClr val="F9D2D6"/>
          </a:solidFill>
          <a:ln/>
        </p:spPr>
      </p:sp>
      <p:sp>
        <p:nvSpPr>
          <p:cNvPr id="42" name="Text 37"/>
          <p:cNvSpPr/>
          <p:nvPr/>
        </p:nvSpPr>
        <p:spPr>
          <a:xfrm>
            <a:off x="8542719" y="5556647"/>
            <a:ext cx="1591231" cy="1016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6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CORRECTION EFFORT</a:t>
            </a:r>
            <a:endParaRPr lang="en-US" sz="650" dirty="0"/>
          </a:p>
        </p:txBody>
      </p:sp>
      <p:sp>
        <p:nvSpPr>
          <p:cNvPr id="43" name="Text 38"/>
          <p:cNvSpPr/>
          <p:nvPr/>
        </p:nvSpPr>
        <p:spPr>
          <a:xfrm>
            <a:off x="5203794" y="5778500"/>
            <a:ext cx="6965577" cy="1504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8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 </a:t>
            </a:r>
            <a:endParaRPr lang="en-US" sz="850" dirty="0"/>
          </a:p>
        </p:txBody>
      </p:sp>
      <p:sp>
        <p:nvSpPr>
          <p:cNvPr id="44" name="Text 39"/>
          <p:cNvSpPr/>
          <p:nvPr/>
        </p:nvSpPr>
        <p:spPr>
          <a:xfrm>
            <a:off x="5203794" y="6015930"/>
            <a:ext cx="6965577" cy="187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0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If AI is unavailable, rejected or stale, the human workflow continues.</a:t>
            </a:r>
            <a:endParaRPr lang="en-US" sz="1050" dirty="0"/>
          </a:p>
        </p:txBody>
      </p:sp>
      <p:sp>
        <p:nvSpPr>
          <p:cNvPr id="45" name="Text 40"/>
          <p:cNvSpPr/>
          <p:nvPr/>
        </p:nvSpPr>
        <p:spPr>
          <a:xfrm>
            <a:off x="4682413" y="6523038"/>
            <a:ext cx="6021733" cy="132755"/>
          </a:xfrm>
          <a:prstGeom prst="rect">
            <a:avLst/>
          </a:prstGeom>
          <a:noFill/>
          <a:ln/>
        </p:spPr>
        <p:txBody>
          <a:bodyPr wrap="none" lIns="0" tIns="82939" rIns="49763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ContinuumOS · Independent portfolio product case · Synthetic data and simulated integrations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31908" y="434380"/>
            <a:ext cx="1071536" cy="204093"/>
          </a:xfrm>
          <a:prstGeom prst="roundRect">
            <a:avLst>
              <a:gd name="adj" fmla="val 22107"/>
            </a:avLst>
          </a:prstGeom>
          <a:noFill/>
          <a:ln w="6350">
            <a:solidFill>
              <a:srgbClr val="DA1B2E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712472" y="474663"/>
            <a:ext cx="1519993" cy="1235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800" dirty="0">
                <a:solidFill>
                  <a:srgbClr val="DA1B2E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FAILURE DESIGN</a:t>
            </a:r>
            <a:endParaRPr lang="en-US" sz="800" dirty="0"/>
          </a:p>
        </p:txBody>
      </p:sp>
      <p:sp>
        <p:nvSpPr>
          <p:cNvPr id="5" name="Text 2"/>
          <p:cNvSpPr/>
          <p:nvPr/>
        </p:nvSpPr>
        <p:spPr>
          <a:xfrm>
            <a:off x="631908" y="684113"/>
            <a:ext cx="6355993" cy="883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1F1E1E"/>
                </a:solidFill>
                <a:latin typeface="Sora SemiBold" pitchFamily="34" charset="0"/>
                <a:ea typeface="Sora SemiBold" pitchFamily="34" charset="-122"/>
                <a:cs typeface="Sora SemiBold" pitchFamily="34" charset="-120"/>
              </a:rPr>
              <a:t>Designed for Failure, Not Just the Happy Path</a:t>
            </a:r>
            <a:endParaRPr lang="en-US" sz="2750" dirty="0"/>
          </a:p>
        </p:txBody>
      </p:sp>
      <p:sp>
        <p:nvSpPr>
          <p:cNvPr id="6" name="Text 3"/>
          <p:cNvSpPr/>
          <p:nvPr/>
        </p:nvSpPr>
        <p:spPr>
          <a:xfrm>
            <a:off x="631908" y="1738709"/>
            <a:ext cx="6965577" cy="2484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3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A workflow is only credible if it explains what happens when it breaks.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631908" y="2218234"/>
            <a:ext cx="3623775" cy="1986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050" b="1" dirty="0">
                <a:solidFill>
                  <a:srgbClr val="3B3535"/>
                </a:solidFill>
                <a:latin typeface="Sora Bold" pitchFamily="34" charset="0"/>
                <a:ea typeface="Sora Bold" pitchFamily="34" charset="-122"/>
                <a:cs typeface="Sora Bold" pitchFamily="34" charset="-120"/>
              </a:rPr>
              <a:t>Designed Exception Paths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631908" y="2545259"/>
            <a:ext cx="3014190" cy="722908"/>
          </a:xfrm>
          <a:prstGeom prst="roundRect">
            <a:avLst>
              <a:gd name="adj" fmla="val 7802"/>
            </a:avLst>
          </a:prstGeom>
          <a:solidFill>
            <a:srgbClr val="F9D2D6"/>
          </a:solidFill>
          <a:ln w="6350">
            <a:solidFill>
              <a:srgbClr val="DFB8BC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72498" y="2685852"/>
            <a:ext cx="2733011" cy="4417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3B3535"/>
                </a:solidFill>
                <a:latin typeface="Sora SemiBold" pitchFamily="34" charset="0"/>
                <a:ea typeface="Sora SemiBold" pitchFamily="34" charset="-122"/>
                <a:cs typeface="Sora SemiBold" pitchFamily="34" charset="-120"/>
              </a:rPr>
              <a:t>Uncertain patient or encounter linkage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631908" y="3382268"/>
            <a:ext cx="3014190" cy="502047"/>
          </a:xfrm>
          <a:prstGeom prst="roundRect">
            <a:avLst>
              <a:gd name="adj" fmla="val 11234"/>
            </a:avLst>
          </a:prstGeom>
          <a:solidFill>
            <a:srgbClr val="F9D2D6"/>
          </a:solidFill>
          <a:ln w="6350">
            <a:solidFill>
              <a:srgbClr val="DFB8BC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72498" y="3522861"/>
            <a:ext cx="2733011" cy="2208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3B3535"/>
                </a:solidFill>
                <a:latin typeface="Sora SemiBold" pitchFamily="34" charset="0"/>
                <a:ea typeface="Sora SemiBold" pitchFamily="34" charset="-122"/>
                <a:cs typeface="Sora SemiBold" pitchFamily="34" charset="-120"/>
              </a:rPr>
              <a:t>Amended report version</a:t>
            </a:r>
            <a:endParaRPr lang="en-US" sz="1350" dirty="0"/>
          </a:p>
        </p:txBody>
      </p:sp>
      <p:sp>
        <p:nvSpPr>
          <p:cNvPr id="12" name="Shape 9"/>
          <p:cNvSpPr/>
          <p:nvPr/>
        </p:nvSpPr>
        <p:spPr>
          <a:xfrm>
            <a:off x="631908" y="3998416"/>
            <a:ext cx="3014190" cy="722908"/>
          </a:xfrm>
          <a:prstGeom prst="roundRect">
            <a:avLst>
              <a:gd name="adj" fmla="val 7802"/>
            </a:avLst>
          </a:prstGeom>
          <a:solidFill>
            <a:srgbClr val="F9D2D6"/>
          </a:solidFill>
          <a:ln w="6350">
            <a:solidFill>
              <a:srgbClr val="DFB8BC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772498" y="4139009"/>
            <a:ext cx="2733011" cy="4417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3B3535"/>
                </a:solidFill>
                <a:latin typeface="Sora SemiBold" pitchFamily="34" charset="0"/>
                <a:ea typeface="Sora SemiBold" pitchFamily="34" charset="-122"/>
                <a:cs typeface="Sora SemiBold" pitchFamily="34" charset="-120"/>
              </a:rPr>
              <a:t>Failed action or unavailable service</a:t>
            </a:r>
            <a:endParaRPr lang="en-US" sz="1350" dirty="0"/>
          </a:p>
        </p:txBody>
      </p:sp>
      <p:sp>
        <p:nvSpPr>
          <p:cNvPr id="14" name="Text 11"/>
          <p:cNvSpPr/>
          <p:nvPr/>
        </p:nvSpPr>
        <p:spPr>
          <a:xfrm>
            <a:off x="3980061" y="2218234"/>
            <a:ext cx="3623775" cy="1986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0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 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3980061" y="2545259"/>
            <a:ext cx="3014190" cy="502047"/>
          </a:xfrm>
          <a:prstGeom prst="roundRect">
            <a:avLst>
              <a:gd name="adj" fmla="val 11234"/>
            </a:avLst>
          </a:prstGeom>
          <a:solidFill>
            <a:srgbClr val="F9D2D6"/>
          </a:solidFill>
          <a:ln w="6350">
            <a:solidFill>
              <a:srgbClr val="DFB8BC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120650" y="2685852"/>
            <a:ext cx="2733011" cy="2208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3B3535"/>
                </a:solidFill>
                <a:latin typeface="Sora SemiBold" pitchFamily="34" charset="0"/>
                <a:ea typeface="Sora SemiBold" pitchFamily="34" charset="-122"/>
                <a:cs typeface="Sora SemiBold" pitchFamily="34" charset="-120"/>
              </a:rPr>
              <a:t>Incomplete result evidence</a:t>
            </a:r>
            <a:endParaRPr lang="en-US" sz="1350" dirty="0"/>
          </a:p>
        </p:txBody>
      </p:sp>
      <p:sp>
        <p:nvSpPr>
          <p:cNvPr id="17" name="Shape 14"/>
          <p:cNvSpPr/>
          <p:nvPr/>
        </p:nvSpPr>
        <p:spPr>
          <a:xfrm>
            <a:off x="3980061" y="3161407"/>
            <a:ext cx="3014190" cy="502047"/>
          </a:xfrm>
          <a:prstGeom prst="roundRect">
            <a:avLst>
              <a:gd name="adj" fmla="val 11234"/>
            </a:avLst>
          </a:prstGeom>
          <a:solidFill>
            <a:srgbClr val="F9D2D6"/>
          </a:solidFill>
          <a:ln w="6350">
            <a:solidFill>
              <a:srgbClr val="DFB8BC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4120650" y="3302000"/>
            <a:ext cx="2733011" cy="2208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3B3535"/>
                </a:solidFill>
                <a:latin typeface="Sora SemiBold" pitchFamily="34" charset="0"/>
                <a:ea typeface="Sora SemiBold" pitchFamily="34" charset="-122"/>
                <a:cs typeface="Sora SemiBold" pitchFamily="34" charset="-120"/>
              </a:rPr>
              <a:t>Duplicate event</a:t>
            </a:r>
            <a:endParaRPr lang="en-US" sz="1350" dirty="0"/>
          </a:p>
        </p:txBody>
      </p:sp>
      <p:sp>
        <p:nvSpPr>
          <p:cNvPr id="19" name="Shape 16"/>
          <p:cNvSpPr/>
          <p:nvPr/>
        </p:nvSpPr>
        <p:spPr>
          <a:xfrm>
            <a:off x="3980061" y="3777555"/>
            <a:ext cx="3014190" cy="502047"/>
          </a:xfrm>
          <a:prstGeom prst="roundRect">
            <a:avLst>
              <a:gd name="adj" fmla="val 11234"/>
            </a:avLst>
          </a:prstGeom>
          <a:solidFill>
            <a:srgbClr val="F9D2D6"/>
          </a:solidFill>
          <a:ln w="6350">
            <a:solidFill>
              <a:srgbClr val="DFB8BC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4120650" y="3918148"/>
            <a:ext cx="2733011" cy="2208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3B3535"/>
                </a:solidFill>
                <a:latin typeface="Sora SemiBold" pitchFamily="34" charset="0"/>
                <a:ea typeface="Sora SemiBold" pitchFamily="34" charset="-122"/>
                <a:cs typeface="Sora SemiBold" pitchFamily="34" charset="-120"/>
              </a:rPr>
              <a:t>Missing handoff evidence</a:t>
            </a:r>
            <a:endParaRPr lang="en-US" sz="1350" dirty="0"/>
          </a:p>
        </p:txBody>
      </p:sp>
      <p:sp>
        <p:nvSpPr>
          <p:cNvPr id="21" name="Shape 18"/>
          <p:cNvSpPr/>
          <p:nvPr/>
        </p:nvSpPr>
        <p:spPr>
          <a:xfrm>
            <a:off x="631908" y="5011638"/>
            <a:ext cx="6355993" cy="19050"/>
          </a:xfrm>
          <a:prstGeom prst="roundRect">
            <a:avLst>
              <a:gd name="adj" fmla="val 49999"/>
            </a:avLst>
          </a:prstGeom>
          <a:solidFill>
            <a:srgbClr val="3B3535">
              <a:alpha val="50000"/>
            </a:srgbClr>
          </a:solidFill>
          <a:ln/>
        </p:spPr>
      </p:sp>
      <p:sp>
        <p:nvSpPr>
          <p:cNvPr id="22" name="Shape 19"/>
          <p:cNvSpPr/>
          <p:nvPr/>
        </p:nvSpPr>
        <p:spPr>
          <a:xfrm>
            <a:off x="631908" y="5192613"/>
            <a:ext cx="6355993" cy="1049139"/>
          </a:xfrm>
          <a:prstGeom prst="roundRect">
            <a:avLst>
              <a:gd name="adj" fmla="val 5376"/>
            </a:avLst>
          </a:prstGeom>
          <a:solidFill>
            <a:srgbClr val="FFB3B4"/>
          </a:solidFill>
          <a:ln/>
        </p:spPr>
      </p:sp>
      <p:pic>
        <p:nvPicPr>
          <p:cNvPr id="2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6148" y="5358507"/>
            <a:ext cx="209743" cy="167779"/>
          </a:xfrm>
          <a:prstGeom prst="rect">
            <a:avLst/>
          </a:prstGeom>
        </p:spPr>
      </p:pic>
      <p:sp>
        <p:nvSpPr>
          <p:cNvPr id="24" name="Text 20"/>
          <p:cNvSpPr/>
          <p:nvPr/>
        </p:nvSpPr>
        <p:spPr>
          <a:xfrm>
            <a:off x="1110131" y="5340251"/>
            <a:ext cx="5743531" cy="2208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Sora SemiBold" pitchFamily="34" charset="0"/>
                <a:ea typeface="Sora SemiBold" pitchFamily="34" charset="-122"/>
                <a:cs typeface="Sora SemiBold" pitchFamily="34" charset="-120"/>
              </a:rPr>
              <a:t>Never present failure as success</a:t>
            </a:r>
            <a:endParaRPr lang="en-US" sz="1350" dirty="0"/>
          </a:p>
        </p:txBody>
      </p:sp>
      <p:sp>
        <p:nvSpPr>
          <p:cNvPr id="25" name="Text 21"/>
          <p:cNvSpPr/>
          <p:nvPr/>
        </p:nvSpPr>
        <p:spPr>
          <a:xfrm>
            <a:off x="1110131" y="5606752"/>
            <a:ext cx="5743531" cy="2208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Sora SemiBold" pitchFamily="34" charset="0"/>
                <a:ea typeface="Sora SemiBold" pitchFamily="34" charset="-122"/>
                <a:cs typeface="Sora SemiBold" pitchFamily="34" charset="-120"/>
              </a:rPr>
              <a:t>Never create duplicate progression</a:t>
            </a:r>
            <a:endParaRPr lang="en-US" sz="1350" dirty="0"/>
          </a:p>
        </p:txBody>
      </p:sp>
      <p:sp>
        <p:nvSpPr>
          <p:cNvPr id="26" name="Text 22"/>
          <p:cNvSpPr/>
          <p:nvPr/>
        </p:nvSpPr>
        <p:spPr>
          <a:xfrm>
            <a:off x="1110131" y="5873254"/>
            <a:ext cx="5743531" cy="2208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Sora SemiBold" pitchFamily="34" charset="0"/>
                <a:ea typeface="Sora SemiBold" pitchFamily="34" charset="-122"/>
                <a:cs typeface="Sora SemiBold" pitchFamily="34" charset="-120"/>
              </a:rPr>
              <a:t>Never advance state without verified evidence</a:t>
            </a:r>
            <a:endParaRPr lang="en-US" sz="1350" dirty="0"/>
          </a:p>
        </p:txBody>
      </p:sp>
      <p:sp>
        <p:nvSpPr>
          <p:cNvPr id="27" name="Text 23"/>
          <p:cNvSpPr/>
          <p:nvPr/>
        </p:nvSpPr>
        <p:spPr>
          <a:xfrm>
            <a:off x="1487550" y="6523038"/>
            <a:ext cx="6021733" cy="132755"/>
          </a:xfrm>
          <a:prstGeom prst="rect">
            <a:avLst/>
          </a:prstGeom>
          <a:noFill/>
          <a:ln/>
        </p:spPr>
        <p:txBody>
          <a:bodyPr wrap="none" lIns="0" tIns="49763" rIns="82939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ContinuumOS · Independent portfolio product case · Synthetic data and simulated integrations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31908" y="434380"/>
            <a:ext cx="1131661" cy="167977"/>
          </a:xfrm>
          <a:prstGeom prst="roundRect">
            <a:avLst>
              <a:gd name="adj" fmla="val 22120"/>
            </a:avLst>
          </a:prstGeom>
          <a:noFill/>
          <a:ln w="6350">
            <a:solidFill>
              <a:srgbClr val="DA1B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98185" y="467519"/>
            <a:ext cx="1608693" cy="1016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650" dirty="0">
                <a:solidFill>
                  <a:srgbClr val="DA1B2E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PROTOTYPE HONESTY</a:t>
            </a:r>
            <a:endParaRPr lang="en-US" sz="650" dirty="0"/>
          </a:p>
        </p:txBody>
      </p:sp>
      <p:sp>
        <p:nvSpPr>
          <p:cNvPr id="4" name="Text 2"/>
          <p:cNvSpPr/>
          <p:nvPr/>
        </p:nvSpPr>
        <p:spPr>
          <a:xfrm>
            <a:off x="631908" y="633313"/>
            <a:ext cx="10927878" cy="3637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250" dirty="0">
                <a:solidFill>
                  <a:srgbClr val="1F1E1E"/>
                </a:solidFill>
                <a:latin typeface="Sora SemiBold" pitchFamily="34" charset="0"/>
                <a:ea typeface="Sora SemiBold" pitchFamily="34" charset="-122"/>
                <a:cs typeface="Sora SemiBold" pitchFamily="34" charset="-120"/>
              </a:rPr>
              <a:t>The Prototype Is Deliberately Honest</a:t>
            </a:r>
            <a:endParaRPr lang="en-US" sz="2250" dirty="0"/>
          </a:p>
        </p:txBody>
      </p:sp>
      <p:sp>
        <p:nvSpPr>
          <p:cNvPr id="5" name="Text 3"/>
          <p:cNvSpPr/>
          <p:nvPr/>
        </p:nvSpPr>
        <p:spPr>
          <a:xfrm>
            <a:off x="631908" y="1113135"/>
            <a:ext cx="11537463" cy="187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0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The prototype demonstrates workflow behaviour, not production readiness.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631908" y="1475085"/>
            <a:ext cx="977876" cy="167977"/>
          </a:xfrm>
          <a:prstGeom prst="roundRect">
            <a:avLst>
              <a:gd name="adj" fmla="val 22120"/>
            </a:avLst>
          </a:prstGeom>
          <a:solidFill>
            <a:srgbClr val="F9D2D6"/>
          </a:solidFill>
          <a:ln/>
        </p:spPr>
      </p:sp>
      <p:sp>
        <p:nvSpPr>
          <p:cNvPr id="7" name="Text 5"/>
          <p:cNvSpPr/>
          <p:nvPr/>
        </p:nvSpPr>
        <p:spPr>
          <a:xfrm>
            <a:off x="698185" y="1508224"/>
            <a:ext cx="1454907" cy="1016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6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✓ DEMONSTRATED</a:t>
            </a:r>
            <a:endParaRPr lang="en-US" sz="650" dirty="0"/>
          </a:p>
        </p:txBody>
      </p:sp>
      <p:sp>
        <p:nvSpPr>
          <p:cNvPr id="8" name="Shape 6"/>
          <p:cNvSpPr/>
          <p:nvPr/>
        </p:nvSpPr>
        <p:spPr>
          <a:xfrm>
            <a:off x="631908" y="1730077"/>
            <a:ext cx="2625858" cy="622300"/>
          </a:xfrm>
          <a:prstGeom prst="roundRect">
            <a:avLst>
              <a:gd name="adj" fmla="val 7464"/>
            </a:avLst>
          </a:prstGeom>
          <a:solidFill>
            <a:srgbClr val="FFFFFF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55135" y="1853307"/>
            <a:ext cx="2379405" cy="187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0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10 connected screens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335155" y="1730077"/>
            <a:ext cx="2625858" cy="622300"/>
          </a:xfrm>
          <a:prstGeom prst="roundRect">
            <a:avLst>
              <a:gd name="adj" fmla="val 7464"/>
            </a:avLst>
          </a:prstGeom>
          <a:solidFill>
            <a:srgbClr val="FFFFFF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58381" y="1853307"/>
            <a:ext cx="2379405" cy="3758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0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Traceable requirements and acceptance criteria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31908" y="2429768"/>
            <a:ext cx="2625858" cy="810220"/>
          </a:xfrm>
          <a:prstGeom prst="roundRect">
            <a:avLst>
              <a:gd name="adj" fmla="val 5732"/>
            </a:avLst>
          </a:prstGeom>
          <a:solidFill>
            <a:srgbClr val="FFFFFF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55135" y="2552998"/>
            <a:ext cx="2379405" cy="5637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0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Synthetic JSON representing selected FHIR R4 source resources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335155" y="2429768"/>
            <a:ext cx="2625858" cy="810220"/>
          </a:xfrm>
          <a:prstGeom prst="roundRect">
            <a:avLst>
              <a:gd name="adj" fmla="val 5732"/>
            </a:avLst>
          </a:prstGeom>
          <a:solidFill>
            <a:srgbClr val="FFFFFF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458381" y="2552998"/>
            <a:ext cx="2379405" cy="3758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0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Deterministic workflow and exception rules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31908" y="3317379"/>
            <a:ext cx="2625858" cy="622300"/>
          </a:xfrm>
          <a:prstGeom prst="roundRect">
            <a:avLst>
              <a:gd name="adj" fmla="val 7464"/>
            </a:avLst>
          </a:prstGeom>
          <a:solidFill>
            <a:srgbClr val="FFFFFF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55135" y="3440609"/>
            <a:ext cx="2379405" cy="187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0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Pre-written AI outputs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3335155" y="3317379"/>
            <a:ext cx="2625858" cy="622300"/>
          </a:xfrm>
          <a:prstGeom prst="roundRect">
            <a:avLst>
              <a:gd name="adj" fmla="val 7464"/>
            </a:avLst>
          </a:prstGeom>
          <a:solidFill>
            <a:srgbClr val="FFFFFF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458381" y="3440609"/>
            <a:ext cx="2379405" cy="3758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0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Visible source, audit and failure evidence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237032" y="1475085"/>
            <a:ext cx="1096241" cy="167977"/>
          </a:xfrm>
          <a:prstGeom prst="roundRect">
            <a:avLst>
              <a:gd name="adj" fmla="val 22120"/>
            </a:avLst>
          </a:prstGeom>
          <a:solidFill>
            <a:srgbClr val="F9D2D6"/>
          </a:solidFill>
          <a:ln/>
        </p:spPr>
      </p:sp>
      <p:sp>
        <p:nvSpPr>
          <p:cNvPr id="21" name="Text 19"/>
          <p:cNvSpPr/>
          <p:nvPr/>
        </p:nvSpPr>
        <p:spPr>
          <a:xfrm>
            <a:off x="6303309" y="1508224"/>
            <a:ext cx="1573272" cy="1016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6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✗ NOT REPRESENTED</a:t>
            </a:r>
            <a:endParaRPr lang="en-US" sz="650" dirty="0"/>
          </a:p>
        </p:txBody>
      </p:sp>
      <p:sp>
        <p:nvSpPr>
          <p:cNvPr id="22" name="Shape 20"/>
          <p:cNvSpPr/>
          <p:nvPr/>
        </p:nvSpPr>
        <p:spPr>
          <a:xfrm>
            <a:off x="6237032" y="1730077"/>
            <a:ext cx="2625858" cy="434380"/>
          </a:xfrm>
          <a:prstGeom prst="roundRect">
            <a:avLst>
              <a:gd name="adj" fmla="val 10692"/>
            </a:avLst>
          </a:prstGeom>
          <a:solidFill>
            <a:srgbClr val="FFFFFF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360259" y="1853307"/>
            <a:ext cx="2379405" cy="187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0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Live hospital integrations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8940279" y="1730077"/>
            <a:ext cx="2625858" cy="434380"/>
          </a:xfrm>
          <a:prstGeom prst="roundRect">
            <a:avLst>
              <a:gd name="adj" fmla="val 10692"/>
            </a:avLst>
          </a:prstGeom>
          <a:solidFill>
            <a:srgbClr val="FFFFFF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063505" y="1853307"/>
            <a:ext cx="2379405" cy="187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0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Production backend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6237032" y="2241848"/>
            <a:ext cx="2625858" cy="434380"/>
          </a:xfrm>
          <a:prstGeom prst="roundRect">
            <a:avLst>
              <a:gd name="adj" fmla="val 10692"/>
            </a:avLst>
          </a:prstGeom>
          <a:solidFill>
            <a:srgbClr val="FFFFFF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360259" y="2365077"/>
            <a:ext cx="2379405" cy="187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0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Live AI model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8940279" y="2241848"/>
            <a:ext cx="2625858" cy="434380"/>
          </a:xfrm>
          <a:prstGeom prst="roundRect">
            <a:avLst>
              <a:gd name="adj" fmla="val 10692"/>
            </a:avLst>
          </a:prstGeom>
          <a:solidFill>
            <a:srgbClr val="FFFFFF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063505" y="2365077"/>
            <a:ext cx="2379405" cy="187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0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Source-system write-back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6237032" y="2753618"/>
            <a:ext cx="5329104" cy="434380"/>
          </a:xfrm>
          <a:prstGeom prst="roundRect">
            <a:avLst>
              <a:gd name="adj" fmla="val 10692"/>
            </a:avLst>
          </a:prstGeom>
          <a:solidFill>
            <a:srgbClr val="FFFFFF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360259" y="2876848"/>
            <a:ext cx="5082651" cy="187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0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Clinical validation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631908" y="4737894"/>
            <a:ext cx="10927878" cy="12700"/>
          </a:xfrm>
          <a:prstGeom prst="roundRect">
            <a:avLst>
              <a:gd name="adj" fmla="val 49999"/>
            </a:avLst>
          </a:prstGeom>
          <a:solidFill>
            <a:srgbClr val="DFB8BC"/>
          </a:solidFill>
          <a:ln/>
        </p:spPr>
      </p:sp>
      <p:sp>
        <p:nvSpPr>
          <p:cNvPr id="33" name="Shape 31"/>
          <p:cNvSpPr/>
          <p:nvPr/>
        </p:nvSpPr>
        <p:spPr>
          <a:xfrm>
            <a:off x="1955156" y="4406255"/>
            <a:ext cx="12700" cy="331688"/>
          </a:xfrm>
          <a:prstGeom prst="roundRect">
            <a:avLst>
              <a:gd name="adj" fmla="val 49999"/>
            </a:avLst>
          </a:prstGeom>
          <a:solidFill>
            <a:srgbClr val="DFB8BC"/>
          </a:solidFill>
          <a:ln/>
        </p:spPr>
      </p:sp>
      <p:sp>
        <p:nvSpPr>
          <p:cNvPr id="34" name="Shape 32"/>
          <p:cNvSpPr/>
          <p:nvPr/>
        </p:nvSpPr>
        <p:spPr>
          <a:xfrm>
            <a:off x="1837188" y="4613523"/>
            <a:ext cx="248735" cy="248741"/>
          </a:xfrm>
          <a:prstGeom prst="roundRect">
            <a:avLst>
              <a:gd name="adj" fmla="val 18673"/>
            </a:avLst>
          </a:prstGeom>
          <a:solidFill>
            <a:srgbClr val="F9D2D6"/>
          </a:solidFill>
          <a:ln w="6350">
            <a:solidFill>
              <a:srgbClr val="DFB8BC"/>
            </a:solidFill>
            <a:prstDash val="solid"/>
          </a:ln>
        </p:spPr>
      </p:sp>
      <p:pic>
        <p:nvPicPr>
          <p:cNvPr id="35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874245" y="4650581"/>
            <a:ext cx="174521" cy="174526"/>
          </a:xfrm>
          <a:prstGeom prst="rect">
            <a:avLst/>
          </a:prstGeom>
        </p:spPr>
      </p:pic>
      <p:sp>
        <p:nvSpPr>
          <p:cNvPr id="36" name="Text 33"/>
          <p:cNvSpPr/>
          <p:nvPr/>
        </p:nvSpPr>
        <p:spPr>
          <a:xfrm>
            <a:off x="742435" y="4113709"/>
            <a:ext cx="2438339" cy="1818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3B3535"/>
                </a:solidFill>
                <a:latin typeface="Sora SemiBold" pitchFamily="34" charset="0"/>
                <a:ea typeface="Sora SemiBold" pitchFamily="34" charset="-122"/>
                <a:cs typeface="Sora SemiBold" pitchFamily="34" charset="-120"/>
              </a:rPr>
              <a:t>Launch</a:t>
            </a:r>
            <a:endParaRPr lang="en-US" sz="1100" dirty="0"/>
          </a:p>
        </p:txBody>
      </p:sp>
      <p:sp>
        <p:nvSpPr>
          <p:cNvPr id="37" name="Shape 34"/>
          <p:cNvSpPr/>
          <p:nvPr/>
        </p:nvSpPr>
        <p:spPr>
          <a:xfrm>
            <a:off x="3333171" y="4737844"/>
            <a:ext cx="12700" cy="331688"/>
          </a:xfrm>
          <a:prstGeom prst="roundRect">
            <a:avLst>
              <a:gd name="adj" fmla="val 49999"/>
            </a:avLst>
          </a:prstGeom>
          <a:solidFill>
            <a:srgbClr val="DFB8BC"/>
          </a:solidFill>
          <a:ln/>
        </p:spPr>
      </p:sp>
      <p:sp>
        <p:nvSpPr>
          <p:cNvPr id="38" name="Shape 35"/>
          <p:cNvSpPr/>
          <p:nvPr/>
        </p:nvSpPr>
        <p:spPr>
          <a:xfrm>
            <a:off x="3215202" y="4613523"/>
            <a:ext cx="248735" cy="248741"/>
          </a:xfrm>
          <a:prstGeom prst="roundRect">
            <a:avLst>
              <a:gd name="adj" fmla="val 18673"/>
            </a:avLst>
          </a:prstGeom>
          <a:solidFill>
            <a:srgbClr val="F9D2D6"/>
          </a:solidFill>
          <a:ln w="6350">
            <a:solidFill>
              <a:srgbClr val="DFB8BC"/>
            </a:solidFill>
            <a:prstDash val="solid"/>
          </a:ln>
        </p:spPr>
      </p:sp>
      <p:pic>
        <p:nvPicPr>
          <p:cNvPr id="39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252260" y="4650581"/>
            <a:ext cx="174521" cy="174526"/>
          </a:xfrm>
          <a:prstGeom prst="rect">
            <a:avLst/>
          </a:prstGeom>
        </p:spPr>
      </p:pic>
      <p:sp>
        <p:nvSpPr>
          <p:cNvPr id="40" name="Text 36"/>
          <p:cNvSpPr/>
          <p:nvPr/>
        </p:nvSpPr>
        <p:spPr>
          <a:xfrm>
            <a:off x="2120450" y="5180211"/>
            <a:ext cx="2438339" cy="1818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3B3535"/>
                </a:solidFill>
                <a:latin typeface="Sora SemiBold" pitchFamily="34" charset="0"/>
                <a:ea typeface="Sora SemiBold" pitchFamily="34" charset="-122"/>
                <a:cs typeface="Sora SemiBold" pitchFamily="34" charset="-120"/>
              </a:rPr>
              <a:t>Workspace</a:t>
            </a:r>
            <a:endParaRPr lang="en-US" sz="1100" dirty="0"/>
          </a:p>
        </p:txBody>
      </p:sp>
      <p:sp>
        <p:nvSpPr>
          <p:cNvPr id="41" name="Shape 37"/>
          <p:cNvSpPr/>
          <p:nvPr/>
        </p:nvSpPr>
        <p:spPr>
          <a:xfrm>
            <a:off x="4711284" y="4406255"/>
            <a:ext cx="12700" cy="331688"/>
          </a:xfrm>
          <a:prstGeom prst="roundRect">
            <a:avLst>
              <a:gd name="adj" fmla="val 49999"/>
            </a:avLst>
          </a:prstGeom>
          <a:solidFill>
            <a:srgbClr val="DFB8BC"/>
          </a:solidFill>
          <a:ln/>
        </p:spPr>
      </p:sp>
      <p:sp>
        <p:nvSpPr>
          <p:cNvPr id="42" name="Shape 38"/>
          <p:cNvSpPr/>
          <p:nvPr/>
        </p:nvSpPr>
        <p:spPr>
          <a:xfrm>
            <a:off x="4593316" y="4613523"/>
            <a:ext cx="248735" cy="248741"/>
          </a:xfrm>
          <a:prstGeom prst="roundRect">
            <a:avLst>
              <a:gd name="adj" fmla="val 18673"/>
            </a:avLst>
          </a:prstGeom>
          <a:solidFill>
            <a:srgbClr val="F9D2D6"/>
          </a:solidFill>
          <a:ln w="6350">
            <a:solidFill>
              <a:srgbClr val="DFB8BC"/>
            </a:solidFill>
            <a:prstDash val="solid"/>
          </a:ln>
        </p:spPr>
      </p:sp>
      <p:pic>
        <p:nvPicPr>
          <p:cNvPr id="43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630374" y="4650581"/>
            <a:ext cx="174521" cy="174526"/>
          </a:xfrm>
          <a:prstGeom prst="rect">
            <a:avLst/>
          </a:prstGeom>
        </p:spPr>
      </p:pic>
      <p:sp>
        <p:nvSpPr>
          <p:cNvPr id="44" name="Text 39"/>
          <p:cNvSpPr/>
          <p:nvPr/>
        </p:nvSpPr>
        <p:spPr>
          <a:xfrm>
            <a:off x="3498564" y="4113709"/>
            <a:ext cx="2438339" cy="1818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3B3535"/>
                </a:solidFill>
                <a:latin typeface="Sora SemiBold" pitchFamily="34" charset="0"/>
                <a:ea typeface="Sora SemiBold" pitchFamily="34" charset="-122"/>
                <a:cs typeface="Sora SemiBold" pitchFamily="34" charset="-120"/>
              </a:rPr>
              <a:t>Result Review</a:t>
            </a:r>
            <a:endParaRPr lang="en-US" sz="1100" dirty="0"/>
          </a:p>
        </p:txBody>
      </p:sp>
      <p:sp>
        <p:nvSpPr>
          <p:cNvPr id="45" name="Shape 40"/>
          <p:cNvSpPr/>
          <p:nvPr/>
        </p:nvSpPr>
        <p:spPr>
          <a:xfrm>
            <a:off x="6089299" y="4737844"/>
            <a:ext cx="12700" cy="331688"/>
          </a:xfrm>
          <a:prstGeom prst="roundRect">
            <a:avLst>
              <a:gd name="adj" fmla="val 49999"/>
            </a:avLst>
          </a:prstGeom>
          <a:solidFill>
            <a:srgbClr val="DFB8BC"/>
          </a:solidFill>
          <a:ln/>
        </p:spPr>
      </p:sp>
      <p:sp>
        <p:nvSpPr>
          <p:cNvPr id="46" name="Shape 41"/>
          <p:cNvSpPr/>
          <p:nvPr/>
        </p:nvSpPr>
        <p:spPr>
          <a:xfrm>
            <a:off x="5971331" y="4613523"/>
            <a:ext cx="248735" cy="248741"/>
          </a:xfrm>
          <a:prstGeom prst="roundRect">
            <a:avLst>
              <a:gd name="adj" fmla="val 18673"/>
            </a:avLst>
          </a:prstGeom>
          <a:solidFill>
            <a:srgbClr val="F9D2D6"/>
          </a:solidFill>
          <a:ln w="6350">
            <a:solidFill>
              <a:srgbClr val="DFB8BC"/>
            </a:solidFill>
            <a:prstDash val="solid"/>
          </a:ln>
        </p:spPr>
      </p:sp>
      <p:pic>
        <p:nvPicPr>
          <p:cNvPr id="47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008388" y="4650581"/>
            <a:ext cx="174521" cy="174526"/>
          </a:xfrm>
          <a:prstGeom prst="rect">
            <a:avLst/>
          </a:prstGeom>
        </p:spPr>
      </p:pic>
      <p:sp>
        <p:nvSpPr>
          <p:cNvPr id="48" name="Text 42"/>
          <p:cNvSpPr/>
          <p:nvPr/>
        </p:nvSpPr>
        <p:spPr>
          <a:xfrm>
            <a:off x="4876579" y="5180211"/>
            <a:ext cx="2438438" cy="1818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3B3535"/>
                </a:solidFill>
                <a:latin typeface="Sora SemiBold" pitchFamily="34" charset="0"/>
                <a:ea typeface="Sora SemiBold" pitchFamily="34" charset="-122"/>
                <a:cs typeface="Sora SemiBold" pitchFamily="34" charset="-120"/>
              </a:rPr>
              <a:t>Direction</a:t>
            </a:r>
            <a:endParaRPr lang="en-US" sz="1100" dirty="0"/>
          </a:p>
        </p:txBody>
      </p:sp>
      <p:sp>
        <p:nvSpPr>
          <p:cNvPr id="49" name="Shape 43"/>
          <p:cNvSpPr/>
          <p:nvPr/>
        </p:nvSpPr>
        <p:spPr>
          <a:xfrm>
            <a:off x="7467413" y="4406255"/>
            <a:ext cx="12700" cy="331688"/>
          </a:xfrm>
          <a:prstGeom prst="roundRect">
            <a:avLst>
              <a:gd name="adj" fmla="val 49999"/>
            </a:avLst>
          </a:prstGeom>
          <a:solidFill>
            <a:srgbClr val="DFB8BC"/>
          </a:solidFill>
          <a:ln/>
        </p:spPr>
      </p:sp>
      <p:sp>
        <p:nvSpPr>
          <p:cNvPr id="50" name="Shape 44"/>
          <p:cNvSpPr/>
          <p:nvPr/>
        </p:nvSpPr>
        <p:spPr>
          <a:xfrm>
            <a:off x="7349445" y="4613523"/>
            <a:ext cx="248735" cy="248741"/>
          </a:xfrm>
          <a:prstGeom prst="roundRect">
            <a:avLst>
              <a:gd name="adj" fmla="val 18673"/>
            </a:avLst>
          </a:prstGeom>
          <a:solidFill>
            <a:srgbClr val="F9D2D6"/>
          </a:solidFill>
          <a:ln w="6350">
            <a:solidFill>
              <a:srgbClr val="DFB8BC"/>
            </a:solidFill>
            <a:prstDash val="solid"/>
          </a:ln>
        </p:spPr>
      </p:sp>
      <p:pic>
        <p:nvPicPr>
          <p:cNvPr id="51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7386502" y="4650581"/>
            <a:ext cx="174521" cy="174526"/>
          </a:xfrm>
          <a:prstGeom prst="rect">
            <a:avLst/>
          </a:prstGeom>
        </p:spPr>
      </p:pic>
      <p:sp>
        <p:nvSpPr>
          <p:cNvPr id="52" name="Text 45"/>
          <p:cNvSpPr/>
          <p:nvPr/>
        </p:nvSpPr>
        <p:spPr>
          <a:xfrm>
            <a:off x="6254693" y="4113709"/>
            <a:ext cx="2438339" cy="1818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3B3535"/>
                </a:solidFill>
                <a:latin typeface="Sora SemiBold" pitchFamily="34" charset="0"/>
                <a:ea typeface="Sora SemiBold" pitchFamily="34" charset="-122"/>
                <a:cs typeface="Sora SemiBold" pitchFamily="34" charset="-120"/>
              </a:rPr>
              <a:t>Handoff</a:t>
            </a:r>
            <a:endParaRPr lang="en-US" sz="1100" dirty="0"/>
          </a:p>
        </p:txBody>
      </p:sp>
      <p:sp>
        <p:nvSpPr>
          <p:cNvPr id="53" name="Shape 46"/>
          <p:cNvSpPr/>
          <p:nvPr/>
        </p:nvSpPr>
        <p:spPr>
          <a:xfrm>
            <a:off x="8845527" y="4737844"/>
            <a:ext cx="12700" cy="331688"/>
          </a:xfrm>
          <a:prstGeom prst="roundRect">
            <a:avLst>
              <a:gd name="adj" fmla="val 49999"/>
            </a:avLst>
          </a:prstGeom>
          <a:solidFill>
            <a:srgbClr val="DFB8BC"/>
          </a:solidFill>
          <a:ln/>
        </p:spPr>
      </p:sp>
      <p:sp>
        <p:nvSpPr>
          <p:cNvPr id="54" name="Shape 47"/>
          <p:cNvSpPr/>
          <p:nvPr/>
        </p:nvSpPr>
        <p:spPr>
          <a:xfrm>
            <a:off x="8727559" y="4613523"/>
            <a:ext cx="248735" cy="248741"/>
          </a:xfrm>
          <a:prstGeom prst="roundRect">
            <a:avLst>
              <a:gd name="adj" fmla="val 18673"/>
            </a:avLst>
          </a:prstGeom>
          <a:solidFill>
            <a:srgbClr val="F9D2D6"/>
          </a:solidFill>
          <a:ln w="6350">
            <a:solidFill>
              <a:srgbClr val="DFB8BC"/>
            </a:solidFill>
            <a:prstDash val="solid"/>
          </a:ln>
        </p:spPr>
      </p:sp>
      <p:pic>
        <p:nvPicPr>
          <p:cNvPr id="55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8764616" y="4650581"/>
            <a:ext cx="174521" cy="174526"/>
          </a:xfrm>
          <a:prstGeom prst="rect">
            <a:avLst/>
          </a:prstGeom>
        </p:spPr>
      </p:pic>
      <p:sp>
        <p:nvSpPr>
          <p:cNvPr id="56" name="Text 48"/>
          <p:cNvSpPr/>
          <p:nvPr/>
        </p:nvSpPr>
        <p:spPr>
          <a:xfrm>
            <a:off x="7632807" y="5180211"/>
            <a:ext cx="2438339" cy="1818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3B3535"/>
                </a:solidFill>
                <a:latin typeface="Sora SemiBold" pitchFamily="34" charset="0"/>
                <a:ea typeface="Sora SemiBold" pitchFamily="34" charset="-122"/>
                <a:cs typeface="Sora SemiBold" pitchFamily="34" charset="-120"/>
              </a:rPr>
              <a:t>Receiving Response</a:t>
            </a:r>
            <a:endParaRPr lang="en-US" sz="1100" dirty="0"/>
          </a:p>
        </p:txBody>
      </p:sp>
      <p:sp>
        <p:nvSpPr>
          <p:cNvPr id="57" name="Shape 49"/>
          <p:cNvSpPr/>
          <p:nvPr/>
        </p:nvSpPr>
        <p:spPr>
          <a:xfrm>
            <a:off x="10223542" y="4406255"/>
            <a:ext cx="12700" cy="331688"/>
          </a:xfrm>
          <a:prstGeom prst="roundRect">
            <a:avLst>
              <a:gd name="adj" fmla="val 49999"/>
            </a:avLst>
          </a:prstGeom>
          <a:solidFill>
            <a:srgbClr val="DFB8BC"/>
          </a:solidFill>
          <a:ln/>
        </p:spPr>
      </p:sp>
      <p:sp>
        <p:nvSpPr>
          <p:cNvPr id="58" name="Shape 50"/>
          <p:cNvSpPr/>
          <p:nvPr/>
        </p:nvSpPr>
        <p:spPr>
          <a:xfrm>
            <a:off x="10105574" y="4613523"/>
            <a:ext cx="248735" cy="248741"/>
          </a:xfrm>
          <a:prstGeom prst="roundRect">
            <a:avLst>
              <a:gd name="adj" fmla="val 18673"/>
            </a:avLst>
          </a:prstGeom>
          <a:solidFill>
            <a:srgbClr val="F9D2D6"/>
          </a:solidFill>
          <a:ln w="6350">
            <a:solidFill>
              <a:srgbClr val="DFB8BC"/>
            </a:solidFill>
            <a:prstDash val="solid"/>
          </a:ln>
        </p:spPr>
      </p:sp>
      <p:pic>
        <p:nvPicPr>
          <p:cNvPr id="59" name="Image 6" descr="preencoded.png">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10142631" y="4650581"/>
            <a:ext cx="174521" cy="174526"/>
          </a:xfrm>
          <a:prstGeom prst="rect">
            <a:avLst/>
          </a:prstGeom>
        </p:spPr>
      </p:pic>
      <p:sp>
        <p:nvSpPr>
          <p:cNvPr id="60" name="Text 51"/>
          <p:cNvSpPr/>
          <p:nvPr/>
        </p:nvSpPr>
        <p:spPr>
          <a:xfrm>
            <a:off x="9010821" y="4113709"/>
            <a:ext cx="2438438" cy="1818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3B3535"/>
                </a:solidFill>
                <a:latin typeface="Sora SemiBold" pitchFamily="34" charset="0"/>
                <a:ea typeface="Sora SemiBold" pitchFamily="34" charset="-122"/>
                <a:cs typeface="Sora SemiBold" pitchFamily="34" charset="-120"/>
              </a:rPr>
              <a:t>Confirmed Next Step</a:t>
            </a:r>
            <a:endParaRPr lang="en-US" sz="1100" dirty="0"/>
          </a:p>
        </p:txBody>
      </p:sp>
      <p:sp>
        <p:nvSpPr>
          <p:cNvPr id="61" name="Text 52"/>
          <p:cNvSpPr/>
          <p:nvPr/>
        </p:nvSpPr>
        <p:spPr>
          <a:xfrm>
            <a:off x="631908" y="5449094"/>
            <a:ext cx="10927878" cy="4628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3000"/>
              </a:lnSpc>
              <a:spcAft>
                <a:spcPts val="650"/>
              </a:spcAft>
              <a:buNone/>
            </a:pPr>
            <a:endParaRPr lang="en-US" sz="1050" dirty="0"/>
          </a:p>
          <a:p>
            <a:pPr algn="l" indent="0" marL="0">
              <a:lnSpc>
                <a:spcPct val="113000"/>
              </a:lnSpc>
              <a:buNone/>
            </a:pPr>
            <a:r>
              <a:rPr lang="en-US" sz="10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Exception handling, source traceability and audit evidence remain visible across the full workflow.</a:t>
            </a:r>
            <a:endParaRPr lang="en-US" sz="1050" dirty="0"/>
          </a:p>
        </p:txBody>
      </p:sp>
      <p:sp>
        <p:nvSpPr>
          <p:cNvPr id="62" name="Text 53"/>
          <p:cNvSpPr/>
          <p:nvPr/>
        </p:nvSpPr>
        <p:spPr>
          <a:xfrm>
            <a:off x="631908" y="6028035"/>
            <a:ext cx="10927878" cy="1818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b="1" dirty="0">
                <a:solidFill>
                  <a:srgbClr val="1F1E1E"/>
                </a:solidFill>
                <a:latin typeface="Sora Bold" pitchFamily="34" charset="0"/>
                <a:ea typeface="Sora Bold" pitchFamily="34" charset="-122"/>
                <a:cs typeface="Sora Bold" pitchFamily="34" charset="-120"/>
              </a:rPr>
              <a:t>The prototype tests workflow clarity, decision rights, failure handling and AI boundaries before broader implementation claims.</a:t>
            </a:r>
            <a:endParaRPr lang="en-US" sz="1100" dirty="0"/>
          </a:p>
        </p:txBody>
      </p:sp>
      <p:sp>
        <p:nvSpPr>
          <p:cNvPr id="63" name="Text 54"/>
          <p:cNvSpPr/>
          <p:nvPr/>
        </p:nvSpPr>
        <p:spPr>
          <a:xfrm>
            <a:off x="3101501" y="6523038"/>
            <a:ext cx="5988595" cy="132755"/>
          </a:xfrm>
          <a:prstGeom prst="rect">
            <a:avLst/>
          </a:prstGeom>
          <a:noFill/>
          <a:ln/>
        </p:spPr>
        <p:txBody>
          <a:bodyPr wrap="none" lIns="0" tIns="49763" rIns="49763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ContinuumOS · Independent portfolio product case · Synthetic data and simulated integrations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31908" y="434380"/>
            <a:ext cx="2064790" cy="240010"/>
          </a:xfrm>
          <a:prstGeom prst="roundRect">
            <a:avLst>
              <a:gd name="adj" fmla="val 22116"/>
            </a:avLst>
          </a:prstGeom>
          <a:noFill/>
          <a:ln w="6350">
            <a:solidFill>
              <a:srgbClr val="DA1B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26660" y="481707"/>
            <a:ext cx="2484871" cy="1453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950" dirty="0">
                <a:solidFill>
                  <a:srgbClr val="DA1B2E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PROPOSED PILOT MEASURES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631908" y="737493"/>
            <a:ext cx="10927878" cy="5196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250" dirty="0">
                <a:solidFill>
                  <a:srgbClr val="1F1E1E"/>
                </a:solidFill>
                <a:latin typeface="Sora SemiBold" pitchFamily="34" charset="0"/>
                <a:ea typeface="Sora SemiBold" pitchFamily="34" charset="-122"/>
                <a:cs typeface="Sora SemiBold" pitchFamily="34" charset="-120"/>
              </a:rPr>
              <a:t>A Real Pilot Must Measure</a:t>
            </a:r>
            <a:endParaRPr lang="en-US" sz="3250" dirty="0"/>
          </a:p>
        </p:txBody>
      </p:sp>
      <p:sp>
        <p:nvSpPr>
          <p:cNvPr id="5" name="Shape 3"/>
          <p:cNvSpPr/>
          <p:nvPr/>
        </p:nvSpPr>
        <p:spPr>
          <a:xfrm>
            <a:off x="631908" y="1671737"/>
            <a:ext cx="1480208" cy="240010"/>
          </a:xfrm>
          <a:prstGeom prst="roundRect">
            <a:avLst>
              <a:gd name="adj" fmla="val 22116"/>
            </a:avLst>
          </a:prstGeom>
          <a:solidFill>
            <a:srgbClr val="F9D2D6"/>
          </a:solidFill>
          <a:ln/>
        </p:spPr>
      </p:sp>
      <p:sp>
        <p:nvSpPr>
          <p:cNvPr id="6" name="Text 4"/>
          <p:cNvSpPr/>
          <p:nvPr/>
        </p:nvSpPr>
        <p:spPr>
          <a:xfrm>
            <a:off x="726660" y="1719064"/>
            <a:ext cx="1900289" cy="1453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9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PRIMARY OUTCOME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631908" y="2089448"/>
            <a:ext cx="3347954" cy="834033"/>
          </a:xfrm>
          <a:prstGeom prst="roundRect">
            <a:avLst>
              <a:gd name="adj" fmla="val 7955"/>
            </a:avLst>
          </a:prstGeom>
          <a:solidFill>
            <a:srgbClr val="F9D2D6"/>
          </a:solidFill>
          <a:ln w="6350">
            <a:solidFill>
              <a:srgbClr val="DFB8B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96211" y="2253754"/>
            <a:ext cx="3019349" cy="5054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2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Time from result availability to confirmed next step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371568" y="1671737"/>
            <a:ext cx="1567419" cy="240010"/>
          </a:xfrm>
          <a:prstGeom prst="roundRect">
            <a:avLst>
              <a:gd name="adj" fmla="val 22116"/>
            </a:avLst>
          </a:prstGeom>
          <a:solidFill>
            <a:srgbClr val="F9D2D6"/>
          </a:solidFill>
          <a:ln/>
        </p:spPr>
      </p:sp>
      <p:sp>
        <p:nvSpPr>
          <p:cNvPr id="10" name="Text 8"/>
          <p:cNvSpPr/>
          <p:nvPr/>
        </p:nvSpPr>
        <p:spPr>
          <a:xfrm>
            <a:off x="4466320" y="1719064"/>
            <a:ext cx="1987500" cy="1453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9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WORKFLOW DRIVERS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371568" y="2089448"/>
            <a:ext cx="3461060" cy="581323"/>
          </a:xfrm>
          <a:prstGeom prst="roundRect">
            <a:avLst>
              <a:gd name="adj" fmla="val 11414"/>
            </a:avLst>
          </a:prstGeom>
          <a:solidFill>
            <a:srgbClr val="F9D2D6"/>
          </a:solidFill>
          <a:ln w="6350">
            <a:solidFill>
              <a:srgbClr val="DFB8B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35870" y="2253754"/>
            <a:ext cx="3132456" cy="252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2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Episodes with visible owner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371568" y="2828727"/>
            <a:ext cx="3461060" cy="581323"/>
          </a:xfrm>
          <a:prstGeom prst="roundRect">
            <a:avLst>
              <a:gd name="adj" fmla="val 11414"/>
            </a:avLst>
          </a:prstGeom>
          <a:solidFill>
            <a:srgbClr val="F9D2D6"/>
          </a:solidFill>
          <a:ln w="6350">
            <a:solidFill>
              <a:srgbClr val="DFB8B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35870" y="2993033"/>
            <a:ext cx="3132456" cy="252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2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Result acknowledgement time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371568" y="3568005"/>
            <a:ext cx="3461060" cy="581323"/>
          </a:xfrm>
          <a:prstGeom prst="roundRect">
            <a:avLst>
              <a:gd name="adj" fmla="val 11414"/>
            </a:avLst>
          </a:prstGeom>
          <a:solidFill>
            <a:srgbClr val="F9D2D6"/>
          </a:solidFill>
          <a:ln w="6350">
            <a:solidFill>
              <a:srgbClr val="DFB8B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35870" y="3732312"/>
            <a:ext cx="3132456" cy="252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2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Unresolved handoffs by age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371568" y="4307284"/>
            <a:ext cx="3461060" cy="581323"/>
          </a:xfrm>
          <a:prstGeom prst="roundRect">
            <a:avLst>
              <a:gd name="adj" fmla="val 11414"/>
            </a:avLst>
          </a:prstGeom>
          <a:solidFill>
            <a:srgbClr val="F9D2D6"/>
          </a:solidFill>
          <a:ln w="6350">
            <a:solidFill>
              <a:srgbClr val="DFB8B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35870" y="4471591"/>
            <a:ext cx="3132456" cy="252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2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Exception recovery time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371568" y="5046563"/>
            <a:ext cx="3461060" cy="581323"/>
          </a:xfrm>
          <a:prstGeom prst="roundRect">
            <a:avLst>
              <a:gd name="adj" fmla="val 11414"/>
            </a:avLst>
          </a:prstGeom>
          <a:solidFill>
            <a:srgbClr val="F9D2D6"/>
          </a:solidFill>
          <a:ln w="6350">
            <a:solidFill>
              <a:srgbClr val="DFB8B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35870" y="5210870"/>
            <a:ext cx="3132456" cy="252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2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Scoped closure rate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8224334" y="1671737"/>
            <a:ext cx="1212224" cy="240010"/>
          </a:xfrm>
          <a:prstGeom prst="roundRect">
            <a:avLst>
              <a:gd name="adj" fmla="val 22116"/>
            </a:avLst>
          </a:prstGeom>
          <a:solidFill>
            <a:srgbClr val="F9D2D6"/>
          </a:solidFill>
          <a:ln/>
        </p:spPr>
      </p:sp>
      <p:sp>
        <p:nvSpPr>
          <p:cNvPr id="22" name="Text 20"/>
          <p:cNvSpPr/>
          <p:nvPr/>
        </p:nvSpPr>
        <p:spPr>
          <a:xfrm>
            <a:off x="8319086" y="1719064"/>
            <a:ext cx="1632306" cy="1453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9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AI GUARDRAILS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8224334" y="2089448"/>
            <a:ext cx="3347954" cy="581323"/>
          </a:xfrm>
          <a:prstGeom prst="roundRect">
            <a:avLst>
              <a:gd name="adj" fmla="val 11414"/>
            </a:avLst>
          </a:prstGeom>
          <a:solidFill>
            <a:srgbClr val="F9D2D6"/>
          </a:solidFill>
          <a:ln w="6350">
            <a:solidFill>
              <a:srgbClr val="DFB8B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388636" y="2253754"/>
            <a:ext cx="3019349" cy="252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2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Source-link coverage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8224334" y="2828727"/>
            <a:ext cx="3347954" cy="581323"/>
          </a:xfrm>
          <a:prstGeom prst="roundRect">
            <a:avLst>
              <a:gd name="adj" fmla="val 11414"/>
            </a:avLst>
          </a:prstGeom>
          <a:solidFill>
            <a:srgbClr val="F9D2D6"/>
          </a:solidFill>
          <a:ln w="6350">
            <a:solidFill>
              <a:srgbClr val="DFB8B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388636" y="2993033"/>
            <a:ext cx="3019349" cy="252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2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Unsupported-content rate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8224334" y="3568005"/>
            <a:ext cx="3347954" cy="581323"/>
          </a:xfrm>
          <a:prstGeom prst="roundRect">
            <a:avLst>
              <a:gd name="adj" fmla="val 11414"/>
            </a:avLst>
          </a:prstGeom>
          <a:solidFill>
            <a:srgbClr val="F9D2D6"/>
          </a:solidFill>
          <a:ln w="6350">
            <a:solidFill>
              <a:srgbClr val="DFB8B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388636" y="3732312"/>
            <a:ext cx="3019349" cy="252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2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Human correction rate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8224334" y="4307284"/>
            <a:ext cx="3347954" cy="581323"/>
          </a:xfrm>
          <a:prstGeom prst="roundRect">
            <a:avLst>
              <a:gd name="adj" fmla="val 11414"/>
            </a:avLst>
          </a:prstGeom>
          <a:solidFill>
            <a:srgbClr val="F9D2D6"/>
          </a:solidFill>
          <a:ln w="6350">
            <a:solidFill>
              <a:srgbClr val="DFB8B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388636" y="4471591"/>
            <a:ext cx="3019349" cy="252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2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Manual fallback rate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31908" y="5983288"/>
            <a:ext cx="11537463" cy="252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200" i="1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These are proposed pilot measures. No targets or improvements are claimed.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3101501" y="6523038"/>
            <a:ext cx="5988595" cy="132755"/>
          </a:xfrm>
          <a:prstGeom prst="rect">
            <a:avLst/>
          </a:prstGeom>
          <a:noFill/>
          <a:ln/>
        </p:spPr>
        <p:txBody>
          <a:bodyPr wrap="none" lIns="0" tIns="49763" rIns="49763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ContinuumOS · Independent portfolio product case · Synthetic data and simulated integrations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31908" y="434380"/>
            <a:ext cx="1330589" cy="215801"/>
          </a:xfrm>
          <a:prstGeom prst="roundRect">
            <a:avLst>
              <a:gd name="adj" fmla="val 22137"/>
            </a:avLst>
          </a:prstGeom>
          <a:noFill/>
          <a:ln w="6350">
            <a:solidFill>
              <a:srgbClr val="DA1B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17135" y="476945"/>
            <a:ext cx="1769721" cy="1306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850" dirty="0">
                <a:solidFill>
                  <a:srgbClr val="DA1B2E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PRODUCT VIABILITY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631908" y="701278"/>
            <a:ext cx="10927878" cy="4676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900" dirty="0">
                <a:solidFill>
                  <a:srgbClr val="1F1E1E"/>
                </a:solidFill>
                <a:latin typeface="Sora SemiBold" pitchFamily="34" charset="0"/>
                <a:ea typeface="Sora SemiBold" pitchFamily="34" charset="-122"/>
                <a:cs typeface="Sora SemiBold" pitchFamily="34" charset="-120"/>
              </a:rPr>
              <a:t>From Product Thesis to a Governed Pilot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631908" y="1504652"/>
            <a:ext cx="891855" cy="215801"/>
          </a:xfrm>
          <a:prstGeom prst="roundRect">
            <a:avLst>
              <a:gd name="adj" fmla="val 22137"/>
            </a:avLst>
          </a:prstGeom>
          <a:solidFill>
            <a:srgbClr val="F9D2D6"/>
          </a:solidFill>
          <a:ln/>
        </p:spPr>
      </p:sp>
      <p:sp>
        <p:nvSpPr>
          <p:cNvPr id="6" name="Text 4"/>
          <p:cNvSpPr/>
          <p:nvPr/>
        </p:nvSpPr>
        <p:spPr>
          <a:xfrm>
            <a:off x="717135" y="1547217"/>
            <a:ext cx="1330986" cy="1306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8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USER VALUE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631908" y="1864320"/>
            <a:ext cx="3373750" cy="874911"/>
          </a:xfrm>
          <a:prstGeom prst="roundRect">
            <a:avLst>
              <a:gd name="adj" fmla="val 6825"/>
            </a:avLst>
          </a:prstGeom>
          <a:solidFill>
            <a:srgbClr val="F9D2D6"/>
          </a:solidFill>
          <a:ln w="6350">
            <a:solidFill>
              <a:srgbClr val="DFB8B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80435" y="2012851"/>
            <a:ext cx="3076696" cy="2338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3B3535"/>
                </a:solidFill>
                <a:latin typeface="Sora SemiBold" pitchFamily="34" charset="0"/>
                <a:ea typeface="Sora SemiBold" pitchFamily="34" charset="-122"/>
                <a:cs typeface="Sora SemiBold" pitchFamily="34" charset="-120"/>
              </a:rPr>
              <a:t>Clinic physician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780435" y="2374602"/>
            <a:ext cx="3076696" cy="2160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1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Clear review and decision queue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1908" y="2867124"/>
            <a:ext cx="3373750" cy="874911"/>
          </a:xfrm>
          <a:prstGeom prst="roundRect">
            <a:avLst>
              <a:gd name="adj" fmla="val 6825"/>
            </a:avLst>
          </a:prstGeom>
          <a:solidFill>
            <a:srgbClr val="F9D2D6"/>
          </a:solidFill>
          <a:ln w="6350">
            <a:solidFill>
              <a:srgbClr val="DFB8B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80435" y="3015655"/>
            <a:ext cx="3076696" cy="2338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3B3535"/>
                </a:solidFill>
                <a:latin typeface="Sora SemiBold" pitchFamily="34" charset="0"/>
                <a:ea typeface="Sora SemiBold" pitchFamily="34" charset="-122"/>
                <a:cs typeface="Sora SemiBold" pitchFamily="34" charset="-120"/>
              </a:rPr>
              <a:t>Care coordinator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780435" y="3377406"/>
            <a:ext cx="3076696" cy="2160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1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Less status chasing; visible exceptions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31908" y="3869928"/>
            <a:ext cx="3373750" cy="874911"/>
          </a:xfrm>
          <a:prstGeom prst="roundRect">
            <a:avLst>
              <a:gd name="adj" fmla="val 6825"/>
            </a:avLst>
          </a:prstGeom>
          <a:solidFill>
            <a:srgbClr val="F9D2D6"/>
          </a:solidFill>
          <a:ln w="6350">
            <a:solidFill>
              <a:srgbClr val="DFB8B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80435" y="4018459"/>
            <a:ext cx="3076696" cy="2338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3B3535"/>
                </a:solidFill>
                <a:latin typeface="Sora SemiBold" pitchFamily="34" charset="0"/>
                <a:ea typeface="Sora SemiBold" pitchFamily="34" charset="-122"/>
                <a:cs typeface="Sora SemiBold" pitchFamily="34" charset="-120"/>
              </a:rPr>
              <a:t>Referral coordinator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780435" y="4380210"/>
            <a:ext cx="3076696" cy="2160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1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Source-linked handoff and response status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358868" y="1504652"/>
            <a:ext cx="1336840" cy="215801"/>
          </a:xfrm>
          <a:prstGeom prst="roundRect">
            <a:avLst>
              <a:gd name="adj" fmla="val 22137"/>
            </a:avLst>
          </a:prstGeom>
          <a:solidFill>
            <a:srgbClr val="F9D2D6"/>
          </a:solidFill>
          <a:ln/>
        </p:spPr>
      </p:sp>
      <p:sp>
        <p:nvSpPr>
          <p:cNvPr id="17" name="Text 15"/>
          <p:cNvSpPr/>
          <p:nvPr/>
        </p:nvSpPr>
        <p:spPr>
          <a:xfrm>
            <a:off x="4444095" y="1547217"/>
            <a:ext cx="1775971" cy="1306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8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BUYER HYPOTHESIS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4358868" y="1864320"/>
            <a:ext cx="3486460" cy="1091009"/>
          </a:xfrm>
          <a:prstGeom prst="roundRect">
            <a:avLst>
              <a:gd name="adj" fmla="val 5473"/>
            </a:avLst>
          </a:prstGeom>
          <a:solidFill>
            <a:srgbClr val="F9D2D6"/>
          </a:solidFill>
          <a:ln w="6350">
            <a:solidFill>
              <a:srgbClr val="DFB8B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07395" y="2012851"/>
            <a:ext cx="3189406" cy="2338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3B3535"/>
                </a:solidFill>
                <a:latin typeface="Sora SemiBold" pitchFamily="34" charset="0"/>
                <a:ea typeface="Sora SemiBold" pitchFamily="34" charset="-122"/>
                <a:cs typeface="Sora SemiBold" pitchFamily="34" charset="-120"/>
              </a:rPr>
              <a:t>Likely sponsor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4507395" y="2374602"/>
            <a:ext cx="3189406" cy="4321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1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Network operations · Ambulatory leadership · Care-coordination leadership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358868" y="3083223"/>
            <a:ext cx="3486460" cy="1091009"/>
          </a:xfrm>
          <a:prstGeom prst="roundRect">
            <a:avLst>
              <a:gd name="adj" fmla="val 5473"/>
            </a:avLst>
          </a:prstGeom>
          <a:solidFill>
            <a:srgbClr val="F9D2D6"/>
          </a:solidFill>
          <a:ln w="6350">
            <a:solidFill>
              <a:srgbClr val="DFB8B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07395" y="3231753"/>
            <a:ext cx="3189406" cy="2338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3B3535"/>
                </a:solidFill>
                <a:latin typeface="Sora SemiBold" pitchFamily="34" charset="0"/>
                <a:ea typeface="Sora SemiBold" pitchFamily="34" charset="-122"/>
                <a:cs typeface="Sora SemiBold" pitchFamily="34" charset="-120"/>
              </a:rPr>
              <a:t>Reason to invest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4507395" y="3593505"/>
            <a:ext cx="3189406" cy="4321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1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Reduce unresolved episodes and make closure measurable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8198538" y="1504652"/>
            <a:ext cx="1569105" cy="215801"/>
          </a:xfrm>
          <a:prstGeom prst="roundRect">
            <a:avLst>
              <a:gd name="adj" fmla="val 22137"/>
            </a:avLst>
          </a:prstGeom>
          <a:solidFill>
            <a:srgbClr val="F9D2D6"/>
          </a:solidFill>
          <a:ln/>
        </p:spPr>
      </p:sp>
      <p:sp>
        <p:nvSpPr>
          <p:cNvPr id="25" name="Text 23"/>
          <p:cNvSpPr/>
          <p:nvPr/>
        </p:nvSpPr>
        <p:spPr>
          <a:xfrm>
            <a:off x="8283765" y="1547217"/>
            <a:ext cx="2008236" cy="1306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8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PILOT PROOF REQUIRED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8198538" y="1864320"/>
            <a:ext cx="3373750" cy="513159"/>
          </a:xfrm>
          <a:prstGeom prst="roundRect">
            <a:avLst>
              <a:gd name="adj" fmla="val 11637"/>
            </a:avLst>
          </a:prstGeom>
          <a:solidFill>
            <a:srgbClr val="F9D2D6"/>
          </a:solidFill>
          <a:ln w="6350">
            <a:solidFill>
              <a:srgbClr val="DFB8B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347065" y="2012851"/>
            <a:ext cx="3076696" cy="2160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1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Workflow fit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8198538" y="2505373"/>
            <a:ext cx="3373750" cy="513159"/>
          </a:xfrm>
          <a:prstGeom prst="roundRect">
            <a:avLst>
              <a:gd name="adj" fmla="val 11637"/>
            </a:avLst>
          </a:prstGeom>
          <a:solidFill>
            <a:srgbClr val="F9D2D6"/>
          </a:solidFill>
          <a:ln w="6350">
            <a:solidFill>
              <a:srgbClr val="DFB8B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347065" y="2653903"/>
            <a:ext cx="3076696" cy="2160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1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Data quality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8198538" y="3146425"/>
            <a:ext cx="3373750" cy="513159"/>
          </a:xfrm>
          <a:prstGeom prst="roundRect">
            <a:avLst>
              <a:gd name="adj" fmla="val 11637"/>
            </a:avLst>
          </a:prstGeom>
          <a:solidFill>
            <a:srgbClr val="F9D2D6"/>
          </a:solidFill>
          <a:ln w="6350">
            <a:solidFill>
              <a:srgbClr val="DFB8B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347065" y="3294955"/>
            <a:ext cx="3076696" cy="2160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1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User adoption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8198538" y="3787477"/>
            <a:ext cx="3373750" cy="513159"/>
          </a:xfrm>
          <a:prstGeom prst="roundRect">
            <a:avLst>
              <a:gd name="adj" fmla="val 11637"/>
            </a:avLst>
          </a:prstGeom>
          <a:solidFill>
            <a:srgbClr val="F9D2D6"/>
          </a:solidFill>
          <a:ln w="6350">
            <a:solidFill>
              <a:srgbClr val="DFB8B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347065" y="3936008"/>
            <a:ext cx="3076696" cy="2160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1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Governance approval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8198538" y="4428530"/>
            <a:ext cx="3373750" cy="513159"/>
          </a:xfrm>
          <a:prstGeom prst="roundRect">
            <a:avLst>
              <a:gd name="adj" fmla="val 11637"/>
            </a:avLst>
          </a:prstGeom>
          <a:solidFill>
            <a:srgbClr val="F9D2D6"/>
          </a:solidFill>
          <a:ln w="6350">
            <a:solidFill>
              <a:srgbClr val="DFB8BC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347065" y="4577060"/>
            <a:ext cx="3076696" cy="2160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1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Measurable operational value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845124" y="5373291"/>
            <a:ext cx="11324247" cy="2700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3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Scale only after one narrow pathway proves that it reduces invisible work without creating another administrative queue.</a:t>
            </a:r>
            <a:endParaRPr lang="en-US" sz="1350" dirty="0"/>
          </a:p>
        </p:txBody>
      </p:sp>
      <p:sp>
        <p:nvSpPr>
          <p:cNvPr id="37" name="Shape 35"/>
          <p:cNvSpPr/>
          <p:nvPr/>
        </p:nvSpPr>
        <p:spPr>
          <a:xfrm>
            <a:off x="631908" y="5229423"/>
            <a:ext cx="19050" cy="557808"/>
          </a:xfrm>
          <a:prstGeom prst="roundRect">
            <a:avLst>
              <a:gd name="adj" fmla="val 49999"/>
            </a:avLst>
          </a:prstGeom>
          <a:solidFill>
            <a:srgbClr val="DA1B2E"/>
          </a:solidFill>
          <a:ln/>
        </p:spPr>
      </p:sp>
      <p:sp>
        <p:nvSpPr>
          <p:cNvPr id="38" name="Text 36"/>
          <p:cNvSpPr/>
          <p:nvPr/>
        </p:nvSpPr>
        <p:spPr>
          <a:xfrm>
            <a:off x="327116" y="5931098"/>
            <a:ext cx="11537463" cy="2700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27000"/>
              </a:lnSpc>
              <a:buNone/>
            </a:pPr>
            <a:r>
              <a:rPr lang="en-US" sz="13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Vishal Falke  ·  Product Management · AI Product Management · Business Analysis</a:t>
            </a:r>
            <a:endParaRPr lang="en-US" sz="1350" dirty="0"/>
          </a:p>
        </p:txBody>
      </p:sp>
      <p:sp>
        <p:nvSpPr>
          <p:cNvPr id="39" name="Text 37"/>
          <p:cNvSpPr/>
          <p:nvPr/>
        </p:nvSpPr>
        <p:spPr>
          <a:xfrm>
            <a:off x="3101501" y="6523038"/>
            <a:ext cx="5988595" cy="132755"/>
          </a:xfrm>
          <a:prstGeom prst="rect">
            <a:avLst/>
          </a:prstGeom>
          <a:noFill/>
          <a:ln/>
        </p:spPr>
        <p:txBody>
          <a:bodyPr wrap="none" lIns="0" tIns="49763" rIns="49763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ContinuumOS · Independent portfolio product case · Synthetic data and simulated integrations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2026-07-28T08:39:34Z</dcterms:created>
  <dcterms:modified xsi:type="dcterms:W3CDTF">2026-07-28T08:39:34Z</dcterms:modified>
</cp:coreProperties>
</file>